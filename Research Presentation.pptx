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60" r:id="rId2"/>
    <p:sldId id="270" r:id="rId3"/>
    <p:sldId id="271" r:id="rId4"/>
    <p:sldId id="262" r:id="rId5"/>
    <p:sldId id="263" r:id="rId6"/>
    <p:sldId id="264" r:id="rId7"/>
    <p:sldId id="266" r:id="rId8"/>
    <p:sldId id="269" r:id="rId9"/>
    <p:sldId id="283" r:id="rId10"/>
    <p:sldId id="28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B7D0F9-FE07-4B0A-84D2-98279F9323D9}" v="605" dt="2026-03-30T22:02:46.1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76923" autoAdjust="0"/>
  </p:normalViewPr>
  <p:slideViewPr>
    <p:cSldViewPr snapToGrid="0">
      <p:cViewPr varScale="1">
        <p:scale>
          <a:sx n="73" d="100"/>
          <a:sy n="73" d="100"/>
        </p:scale>
        <p:origin x="97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llam Saka" userId="f204d973-d51e-47d8-884c-bdcba18d93b4" providerId="ADAL" clId="{2B4C0566-A58E-4187-9DAF-34474F6F6306}"/>
    <pc:docChg chg="undo redo custSel addSld delSld modSld sldOrd">
      <pc:chgData name="Sallam Saka" userId="f204d973-d51e-47d8-884c-bdcba18d93b4" providerId="ADAL" clId="{2B4C0566-A58E-4187-9DAF-34474F6F6306}" dt="2026-03-31T13:38:12.861" v="8287" actId="20577"/>
      <pc:docMkLst>
        <pc:docMk/>
      </pc:docMkLst>
      <pc:sldChg chg="addSp delSp modSp add mod addAnim delAnim modNotesTx">
        <pc:chgData name="Sallam Saka" userId="f204d973-d51e-47d8-884c-bdcba18d93b4" providerId="ADAL" clId="{2B4C0566-A58E-4187-9DAF-34474F6F6306}" dt="2026-03-31T13:38:12.861" v="8287" actId="20577"/>
        <pc:sldMkLst>
          <pc:docMk/>
          <pc:sldMk cId="3318245778" sldId="260"/>
        </pc:sldMkLst>
        <pc:spChg chg="mod">
          <ac:chgData name="Sallam Saka" userId="f204d973-d51e-47d8-884c-bdcba18d93b4" providerId="ADAL" clId="{2B4C0566-A58E-4187-9DAF-34474F6F6306}" dt="2026-03-29T21:48:07.971" v="7641"/>
          <ac:spMkLst>
            <pc:docMk/>
            <pc:sldMk cId="3318245778" sldId="260"/>
            <ac:spMk id="2" creationId="{FF5B7E42-1451-39C6-3626-5134ACC3DAFD}"/>
          </ac:spMkLst>
        </pc:spChg>
        <pc:spChg chg="mod">
          <ac:chgData name="Sallam Saka" userId="f204d973-d51e-47d8-884c-bdcba18d93b4" providerId="ADAL" clId="{2B4C0566-A58E-4187-9DAF-34474F6F6306}" dt="2026-03-28T18:47:43.431" v="15" actId="26606"/>
          <ac:spMkLst>
            <pc:docMk/>
            <pc:sldMk cId="3318245778" sldId="260"/>
            <ac:spMk id="3" creationId="{632AD773-B631-9F36-3C96-D024CC1082A9}"/>
          </ac:spMkLst>
        </pc:spChg>
        <pc:spChg chg="add">
          <ac:chgData name="Sallam Saka" userId="f204d973-d51e-47d8-884c-bdcba18d93b4" providerId="ADAL" clId="{2B4C0566-A58E-4187-9DAF-34474F6F6306}" dt="2026-03-28T18:48:51.229" v="23" actId="26606"/>
          <ac:spMkLst>
            <pc:docMk/>
            <pc:sldMk cId="3318245778" sldId="260"/>
            <ac:spMk id="82" creationId="{657F69E0-C4B0-4BEC-A689-4F8D877F05D4}"/>
          </ac:spMkLst>
        </pc:spChg>
        <pc:spChg chg="add">
          <ac:chgData name="Sallam Saka" userId="f204d973-d51e-47d8-884c-bdcba18d93b4" providerId="ADAL" clId="{2B4C0566-A58E-4187-9DAF-34474F6F6306}" dt="2026-03-28T18:48:51.229" v="23" actId="26606"/>
          <ac:spMkLst>
            <pc:docMk/>
            <pc:sldMk cId="3318245778" sldId="260"/>
            <ac:spMk id="84" creationId="{9F6380B4-6A1C-481E-8408-B4E6C75B9B81}"/>
          </ac:spMkLst>
        </pc:spChg>
        <pc:picChg chg="add mod ord modCrop">
          <ac:chgData name="Sallam Saka" userId="f204d973-d51e-47d8-884c-bdcba18d93b4" providerId="ADAL" clId="{2B4C0566-A58E-4187-9DAF-34474F6F6306}" dt="2026-03-28T18:49:39.140" v="42" actId="1037"/>
          <ac:picMkLst>
            <pc:docMk/>
            <pc:sldMk cId="3318245778" sldId="260"/>
            <ac:picMk id="5" creationId="{7B1CB624-F0B1-7291-B627-3A7F8FAC9AB2}"/>
          </ac:picMkLst>
        </pc:picChg>
      </pc:sldChg>
      <pc:sldChg chg="addSp delSp modSp new mod modNotesTx">
        <pc:chgData name="Sallam Saka" userId="f204d973-d51e-47d8-884c-bdcba18d93b4" providerId="ADAL" clId="{2B4C0566-A58E-4187-9DAF-34474F6F6306}" dt="2026-03-29T19:38:06.316" v="7171" actId="20577"/>
        <pc:sldMkLst>
          <pc:docMk/>
          <pc:sldMk cId="1924781807" sldId="262"/>
        </pc:sldMkLst>
        <pc:spChg chg="mod">
          <ac:chgData name="Sallam Saka" userId="f204d973-d51e-47d8-884c-bdcba18d93b4" providerId="ADAL" clId="{2B4C0566-A58E-4187-9DAF-34474F6F6306}" dt="2026-03-28T18:57:25.565" v="50"/>
          <ac:spMkLst>
            <pc:docMk/>
            <pc:sldMk cId="1924781807" sldId="262"/>
            <ac:spMk id="2" creationId="{FE67B391-343B-876C-E9E4-2BB9E6BB45AD}"/>
          </ac:spMkLst>
        </pc:spChg>
        <pc:spChg chg="mod">
          <ac:chgData name="Sallam Saka" userId="f204d973-d51e-47d8-884c-bdcba18d93b4" providerId="ADAL" clId="{2B4C0566-A58E-4187-9DAF-34474F6F6306}" dt="2026-03-29T19:38:06.316" v="7171" actId="20577"/>
          <ac:spMkLst>
            <pc:docMk/>
            <pc:sldMk cId="1924781807" sldId="262"/>
            <ac:spMk id="3" creationId="{0EC58C48-4A42-082B-84E8-B387245BD259}"/>
          </ac:spMkLst>
        </pc:spChg>
      </pc:sldChg>
      <pc:sldChg chg="addSp modSp new mod modNotesTx">
        <pc:chgData name="Sallam Saka" userId="f204d973-d51e-47d8-884c-bdcba18d93b4" providerId="ADAL" clId="{2B4C0566-A58E-4187-9DAF-34474F6F6306}" dt="2026-03-29T22:25:34.329" v="7857" actId="20577"/>
        <pc:sldMkLst>
          <pc:docMk/>
          <pc:sldMk cId="1066920841" sldId="263"/>
        </pc:sldMkLst>
        <pc:spChg chg="mod">
          <ac:chgData name="Sallam Saka" userId="f204d973-d51e-47d8-884c-bdcba18d93b4" providerId="ADAL" clId="{2B4C0566-A58E-4187-9DAF-34474F6F6306}" dt="2026-03-28T19:00:47.039" v="53"/>
          <ac:spMkLst>
            <pc:docMk/>
            <pc:sldMk cId="1066920841" sldId="263"/>
            <ac:spMk id="2" creationId="{CF6EA3EF-5972-6201-36E9-C0B565C7E9A4}"/>
          </ac:spMkLst>
        </pc:spChg>
        <pc:spChg chg="mod">
          <ac:chgData name="Sallam Saka" userId="f204d973-d51e-47d8-884c-bdcba18d93b4" providerId="ADAL" clId="{2B4C0566-A58E-4187-9DAF-34474F6F6306}" dt="2026-03-29T22:17:29.751" v="7710" actId="113"/>
          <ac:spMkLst>
            <pc:docMk/>
            <pc:sldMk cId="1066920841" sldId="263"/>
            <ac:spMk id="3" creationId="{F76C926B-4C02-8D0E-EA87-B74721988E66}"/>
          </ac:spMkLst>
        </pc:spChg>
      </pc:sldChg>
      <pc:sldChg chg="addSp delSp modSp new mod modTransition setBg modAnim modNotesTx">
        <pc:chgData name="Sallam Saka" userId="f204d973-d51e-47d8-884c-bdcba18d93b4" providerId="ADAL" clId="{2B4C0566-A58E-4187-9DAF-34474F6F6306}" dt="2026-03-29T19:15:19.071" v="6963" actId="20577"/>
        <pc:sldMkLst>
          <pc:docMk/>
          <pc:sldMk cId="2971180190" sldId="264"/>
        </pc:sldMkLst>
        <pc:spChg chg="mod">
          <ac:chgData name="Sallam Saka" userId="f204d973-d51e-47d8-884c-bdcba18d93b4" providerId="ADAL" clId="{2B4C0566-A58E-4187-9DAF-34474F6F6306}" dt="2026-03-28T20:19:53.409" v="1264" actId="1076"/>
          <ac:spMkLst>
            <pc:docMk/>
            <pc:sldMk cId="2971180190" sldId="264"/>
            <ac:spMk id="2" creationId="{21EFC4B6-407F-42EB-365F-6D1DB72490E7}"/>
          </ac:spMkLst>
        </pc:spChg>
        <pc:spChg chg="add mod">
          <ac:chgData name="Sallam Saka" userId="f204d973-d51e-47d8-884c-bdcba18d93b4" providerId="ADAL" clId="{2B4C0566-A58E-4187-9DAF-34474F6F6306}" dt="2026-03-28T20:37:25.739" v="1326" actId="208"/>
          <ac:spMkLst>
            <pc:docMk/>
            <pc:sldMk cId="2971180190" sldId="264"/>
            <ac:spMk id="6" creationId="{D21D3F49-D092-F924-590A-B71EB2118E58}"/>
          </ac:spMkLst>
        </pc:spChg>
        <pc:spChg chg="add mod">
          <ac:chgData name="Sallam Saka" userId="f204d973-d51e-47d8-884c-bdcba18d93b4" providerId="ADAL" clId="{2B4C0566-A58E-4187-9DAF-34474F6F6306}" dt="2026-03-28T20:56:21.455" v="1771" actId="1035"/>
          <ac:spMkLst>
            <pc:docMk/>
            <pc:sldMk cId="2971180190" sldId="264"/>
            <ac:spMk id="7" creationId="{7E0A7CAC-52D6-62E8-0FA3-00673810B362}"/>
          </ac:spMkLst>
        </pc:spChg>
        <pc:spChg chg="add mod">
          <ac:chgData name="Sallam Saka" userId="f204d973-d51e-47d8-884c-bdcba18d93b4" providerId="ADAL" clId="{2B4C0566-A58E-4187-9DAF-34474F6F6306}" dt="2026-03-28T20:40:46.354" v="1337" actId="14100"/>
          <ac:spMkLst>
            <pc:docMk/>
            <pc:sldMk cId="2971180190" sldId="264"/>
            <ac:spMk id="8" creationId="{19177A1D-9557-781A-D020-73E491D4D658}"/>
          </ac:spMkLst>
        </pc:spChg>
        <pc:spChg chg="add mod">
          <ac:chgData name="Sallam Saka" userId="f204d973-d51e-47d8-884c-bdcba18d93b4" providerId="ADAL" clId="{2B4C0566-A58E-4187-9DAF-34474F6F6306}" dt="2026-03-28T20:38:56.799" v="1335" actId="208"/>
          <ac:spMkLst>
            <pc:docMk/>
            <pc:sldMk cId="2971180190" sldId="264"/>
            <ac:spMk id="10" creationId="{5E0E225B-3DB3-0345-7C1E-775DDA822713}"/>
          </ac:spMkLst>
        </pc:spChg>
        <pc:spChg chg="add mod">
          <ac:chgData name="Sallam Saka" userId="f204d973-d51e-47d8-884c-bdcba18d93b4" providerId="ADAL" clId="{2B4C0566-A58E-4187-9DAF-34474F6F6306}" dt="2026-03-28T20:45:41.796" v="1559" actId="14100"/>
          <ac:spMkLst>
            <pc:docMk/>
            <pc:sldMk cId="2971180190" sldId="264"/>
            <ac:spMk id="12" creationId="{B85815EA-6535-D7C5-997F-CE6A9877AEEF}"/>
          </ac:spMkLst>
        </pc:spChg>
        <pc:spChg chg="add">
          <ac:chgData name="Sallam Saka" userId="f204d973-d51e-47d8-884c-bdcba18d93b4" providerId="ADAL" clId="{2B4C0566-A58E-4187-9DAF-34474F6F6306}" dt="2026-03-28T20:19:23.512" v="1262" actId="26606"/>
          <ac:spMkLst>
            <pc:docMk/>
            <pc:sldMk cId="2971180190" sldId="264"/>
            <ac:spMk id="13" creationId="{A4AC5506-6312-4701-8D3C-40187889A947}"/>
          </ac:spMkLst>
        </pc:spChg>
        <pc:picChg chg="add mod">
          <ac:chgData name="Sallam Saka" userId="f204d973-d51e-47d8-884c-bdcba18d93b4" providerId="ADAL" clId="{2B4C0566-A58E-4187-9DAF-34474F6F6306}" dt="2026-03-28T20:45:54.732" v="1562" actId="1076"/>
          <ac:picMkLst>
            <pc:docMk/>
            <pc:sldMk cId="2971180190" sldId="264"/>
            <ac:picMk id="4" creationId="{D3E36BC2-6F71-562B-A5CD-0C28F4924E3A}"/>
          </ac:picMkLst>
        </pc:picChg>
        <pc:cxnChg chg="add mod">
          <ac:chgData name="Sallam Saka" userId="f204d973-d51e-47d8-884c-bdcba18d93b4" providerId="ADAL" clId="{2B4C0566-A58E-4187-9DAF-34474F6F6306}" dt="2026-03-29T04:56:23.451" v="4692" actId="1037"/>
          <ac:cxnSpMkLst>
            <pc:docMk/>
            <pc:sldMk cId="2971180190" sldId="264"/>
            <ac:cxnSpMk id="5" creationId="{834EFD38-953C-9646-090C-398885A5D538}"/>
          </ac:cxnSpMkLst>
        </pc:cxnChg>
        <pc:cxnChg chg="add mod">
          <ac:chgData name="Sallam Saka" userId="f204d973-d51e-47d8-884c-bdcba18d93b4" providerId="ADAL" clId="{2B4C0566-A58E-4187-9DAF-34474F6F6306}" dt="2026-03-29T04:56:27.669" v="4694" actId="1076"/>
          <ac:cxnSpMkLst>
            <pc:docMk/>
            <pc:sldMk cId="2971180190" sldId="264"/>
            <ac:cxnSpMk id="9" creationId="{2E1D5F7A-F0CC-9816-8184-0D5337D839BD}"/>
          </ac:cxnSpMkLst>
        </pc:cxnChg>
        <pc:cxnChg chg="add mod">
          <ac:chgData name="Sallam Saka" userId="f204d973-d51e-47d8-884c-bdcba18d93b4" providerId="ADAL" clId="{2B4C0566-A58E-4187-9DAF-34474F6F6306}" dt="2026-03-29T04:56:41.473" v="4709" actId="1037"/>
          <ac:cxnSpMkLst>
            <pc:docMk/>
            <pc:sldMk cId="2971180190" sldId="264"/>
            <ac:cxnSpMk id="11" creationId="{2F404E18-99EF-175C-3517-9E3C610E75DE}"/>
          </ac:cxnSpMkLst>
        </pc:cxnChg>
        <pc:cxnChg chg="add mod">
          <ac:chgData name="Sallam Saka" userId="f204d973-d51e-47d8-884c-bdcba18d93b4" providerId="ADAL" clId="{2B4C0566-A58E-4187-9DAF-34474F6F6306}" dt="2026-03-29T04:56:47.132" v="4715" actId="1037"/>
          <ac:cxnSpMkLst>
            <pc:docMk/>
            <pc:sldMk cId="2971180190" sldId="264"/>
            <ac:cxnSpMk id="14" creationId="{1BB77390-D3FC-9DB7-C850-A30935527E6D}"/>
          </ac:cxnSpMkLst>
        </pc:cxnChg>
        <pc:cxnChg chg="add mod">
          <ac:chgData name="Sallam Saka" userId="f204d973-d51e-47d8-884c-bdcba18d93b4" providerId="ADAL" clId="{2B4C0566-A58E-4187-9DAF-34474F6F6306}" dt="2026-03-29T04:56:59.527" v="4743" actId="1038"/>
          <ac:cxnSpMkLst>
            <pc:docMk/>
            <pc:sldMk cId="2971180190" sldId="264"/>
            <ac:cxnSpMk id="15" creationId="{84AFB5AE-09F8-2970-EDF3-D51578F6D784}"/>
          </ac:cxnSpMkLst>
        </pc:cxnChg>
        <pc:cxnChg chg="add mod">
          <ac:chgData name="Sallam Saka" userId="f204d973-d51e-47d8-884c-bdcba18d93b4" providerId="ADAL" clId="{2B4C0566-A58E-4187-9DAF-34474F6F6306}" dt="2026-03-29T04:57:06.026" v="4773" actId="1036"/>
          <ac:cxnSpMkLst>
            <pc:docMk/>
            <pc:sldMk cId="2971180190" sldId="264"/>
            <ac:cxnSpMk id="16" creationId="{ACFF19CE-75BF-BA5A-31CC-90A87C52817D}"/>
          </ac:cxnSpMkLst>
        </pc:cxnChg>
      </pc:sldChg>
      <pc:sldChg chg="addSp delSp modSp new mod setBg addAnim delAnim modAnim modNotesTx">
        <pc:chgData name="Sallam Saka" userId="f204d973-d51e-47d8-884c-bdcba18d93b4" providerId="ADAL" clId="{2B4C0566-A58E-4187-9DAF-34474F6F6306}" dt="2026-03-29T22:17:51.495" v="7718" actId="113"/>
        <pc:sldMkLst>
          <pc:docMk/>
          <pc:sldMk cId="322354272" sldId="266"/>
        </pc:sldMkLst>
        <pc:spChg chg="mod">
          <ac:chgData name="Sallam Saka" userId="f204d973-d51e-47d8-884c-bdcba18d93b4" providerId="ADAL" clId="{2B4C0566-A58E-4187-9DAF-34474F6F6306}" dt="2026-03-28T20:58:29.580" v="1814" actId="26606"/>
          <ac:spMkLst>
            <pc:docMk/>
            <pc:sldMk cId="322354272" sldId="266"/>
            <ac:spMk id="2" creationId="{1CC75DE1-8C3A-0D88-C6BA-5F16799B7E2F}"/>
          </ac:spMkLst>
        </pc:spChg>
        <pc:spChg chg="add del mod">
          <ac:chgData name="Sallam Saka" userId="f204d973-d51e-47d8-884c-bdcba18d93b4" providerId="ADAL" clId="{2B4C0566-A58E-4187-9DAF-34474F6F6306}" dt="2026-03-29T22:17:51.495" v="7718" actId="113"/>
          <ac:spMkLst>
            <pc:docMk/>
            <pc:sldMk cId="322354272" sldId="266"/>
            <ac:spMk id="3" creationId="{07BFCB8A-39F6-FB09-C56F-039D742AF9B0}"/>
          </ac:spMkLst>
        </pc:spChg>
        <pc:spChg chg="add mod">
          <ac:chgData name="Sallam Saka" userId="f204d973-d51e-47d8-884c-bdcba18d93b4" providerId="ADAL" clId="{2B4C0566-A58E-4187-9DAF-34474F6F6306}" dt="2026-03-29T05:02:36.683" v="4846" actId="164"/>
          <ac:spMkLst>
            <pc:docMk/>
            <pc:sldMk cId="322354272" sldId="266"/>
            <ac:spMk id="4" creationId="{1ED4A5B7-D46B-BBD2-5DE7-848B877BB530}"/>
          </ac:spMkLst>
        </pc:spChg>
        <pc:spChg chg="add mod">
          <ac:chgData name="Sallam Saka" userId="f204d973-d51e-47d8-884c-bdcba18d93b4" providerId="ADAL" clId="{2B4C0566-A58E-4187-9DAF-34474F6F6306}" dt="2026-03-29T05:02:36.683" v="4846" actId="164"/>
          <ac:spMkLst>
            <pc:docMk/>
            <pc:sldMk cId="322354272" sldId="266"/>
            <ac:spMk id="6" creationId="{F5C7BE75-1FF8-9DE8-8564-8BBB537CEF31}"/>
          </ac:spMkLst>
        </pc:spChg>
        <pc:spChg chg="add mod">
          <ac:chgData name="Sallam Saka" userId="f204d973-d51e-47d8-884c-bdcba18d93b4" providerId="ADAL" clId="{2B4C0566-A58E-4187-9DAF-34474F6F6306}" dt="2026-03-29T05:02:37.514" v="4847" actId="164"/>
          <ac:spMkLst>
            <pc:docMk/>
            <pc:sldMk cId="322354272" sldId="266"/>
            <ac:spMk id="8" creationId="{9CA20FB0-71D5-2731-D500-B98D99190543}"/>
          </ac:spMkLst>
        </pc:spChg>
        <pc:spChg chg="add mod">
          <ac:chgData name="Sallam Saka" userId="f204d973-d51e-47d8-884c-bdcba18d93b4" providerId="ADAL" clId="{2B4C0566-A58E-4187-9DAF-34474F6F6306}" dt="2026-03-29T05:02:37.514" v="4847" actId="164"/>
          <ac:spMkLst>
            <pc:docMk/>
            <pc:sldMk cId="322354272" sldId="266"/>
            <ac:spMk id="9" creationId="{50929F8C-6026-1E46-935D-5A8AFBAE96DA}"/>
          </ac:spMkLst>
        </pc:spChg>
        <pc:spChg chg="add">
          <ac:chgData name="Sallam Saka" userId="f204d973-d51e-47d8-884c-bdcba18d93b4" providerId="ADAL" clId="{2B4C0566-A58E-4187-9DAF-34474F6F6306}" dt="2026-03-28T20:58:29.580" v="1814" actId="26606"/>
          <ac:spMkLst>
            <pc:docMk/>
            <pc:sldMk cId="322354272" sldId="266"/>
            <ac:spMk id="10" creationId="{2B97F24A-32CE-4C1C-A50D-3016B394DCFB}"/>
          </ac:spMkLst>
        </pc:spChg>
        <pc:spChg chg="add">
          <ac:chgData name="Sallam Saka" userId="f204d973-d51e-47d8-884c-bdcba18d93b4" providerId="ADAL" clId="{2B4C0566-A58E-4187-9DAF-34474F6F6306}" dt="2026-03-28T20:58:29.580" v="1814" actId="26606"/>
          <ac:spMkLst>
            <pc:docMk/>
            <pc:sldMk cId="322354272" sldId="266"/>
            <ac:spMk id="12" creationId="{CD8B4F24-440B-49E9-B85D-733523DC064B}"/>
          </ac:spMkLst>
        </pc:spChg>
        <pc:picChg chg="add mod">
          <ac:chgData name="Sallam Saka" userId="f204d973-d51e-47d8-884c-bdcba18d93b4" providerId="ADAL" clId="{2B4C0566-A58E-4187-9DAF-34474F6F6306}" dt="2026-03-29T05:01:50.456" v="4839" actId="1076"/>
          <ac:picMkLst>
            <pc:docMk/>
            <pc:sldMk cId="322354272" sldId="266"/>
            <ac:picMk id="5" creationId="{49EC1E1D-A041-094B-1AE4-48CD72EF97C9}"/>
          </ac:picMkLst>
        </pc:picChg>
      </pc:sldChg>
      <pc:sldChg chg="addSp delSp modSp new mod setBg addAnim delAnim modAnim modNotesTx">
        <pc:chgData name="Sallam Saka" userId="f204d973-d51e-47d8-884c-bdcba18d93b4" providerId="ADAL" clId="{2B4C0566-A58E-4187-9DAF-34474F6F6306}" dt="2026-03-29T19:44:39.156" v="7345"/>
        <pc:sldMkLst>
          <pc:docMk/>
          <pc:sldMk cId="1385581192" sldId="269"/>
        </pc:sldMkLst>
        <pc:spChg chg="mod">
          <ac:chgData name="Sallam Saka" userId="f204d973-d51e-47d8-884c-bdcba18d93b4" providerId="ADAL" clId="{2B4C0566-A58E-4187-9DAF-34474F6F6306}" dt="2026-03-29T05:19:12.136" v="5273" actId="20577"/>
          <ac:spMkLst>
            <pc:docMk/>
            <pc:sldMk cId="1385581192" sldId="269"/>
            <ac:spMk id="3" creationId="{AA409D56-71C6-9209-E90E-EC4A34B783B7}"/>
          </ac:spMkLst>
        </pc:spChg>
        <pc:spChg chg="add mod">
          <ac:chgData name="Sallam Saka" userId="f204d973-d51e-47d8-884c-bdcba18d93b4" providerId="ADAL" clId="{2B4C0566-A58E-4187-9DAF-34474F6F6306}" dt="2026-03-28T21:01:44.301" v="2047"/>
          <ac:spMkLst>
            <pc:docMk/>
            <pc:sldMk cId="1385581192" sldId="269"/>
            <ac:spMk id="5" creationId="{0BB17780-DD52-20A3-DBD2-BE91181916F7}"/>
          </ac:spMkLst>
        </pc:spChg>
        <pc:spChg chg="add">
          <ac:chgData name="Sallam Saka" userId="f204d973-d51e-47d8-884c-bdcba18d93b4" providerId="ADAL" clId="{2B4C0566-A58E-4187-9DAF-34474F6F6306}" dt="2026-03-28T21:01:04.178" v="2039" actId="26606"/>
          <ac:spMkLst>
            <pc:docMk/>
            <pc:sldMk cId="1385581192" sldId="269"/>
            <ac:spMk id="9" creationId="{2B97F24A-32CE-4C1C-A50D-3016B394DCFB}"/>
          </ac:spMkLst>
        </pc:spChg>
        <pc:spChg chg="add mod">
          <ac:chgData name="Sallam Saka" userId="f204d973-d51e-47d8-884c-bdcba18d93b4" providerId="ADAL" clId="{2B4C0566-A58E-4187-9DAF-34474F6F6306}" dt="2026-03-29T05:02:40.438" v="4848"/>
          <ac:spMkLst>
            <pc:docMk/>
            <pc:sldMk cId="1385581192" sldId="269"/>
            <ac:spMk id="10" creationId="{6DE85AEF-4D11-9A41-C1E2-C29CD66BF243}"/>
          </ac:spMkLst>
        </pc:spChg>
        <pc:spChg chg="add">
          <ac:chgData name="Sallam Saka" userId="f204d973-d51e-47d8-884c-bdcba18d93b4" providerId="ADAL" clId="{2B4C0566-A58E-4187-9DAF-34474F6F6306}" dt="2026-03-28T21:01:04.178" v="2039" actId="26606"/>
          <ac:spMkLst>
            <pc:docMk/>
            <pc:sldMk cId="1385581192" sldId="269"/>
            <ac:spMk id="11" creationId="{CD8B4F24-440B-49E9-B85D-733523DC064B}"/>
          </ac:spMkLst>
        </pc:spChg>
        <pc:spChg chg="add mod">
          <ac:chgData name="Sallam Saka" userId="f204d973-d51e-47d8-884c-bdcba18d93b4" providerId="ADAL" clId="{2B4C0566-A58E-4187-9DAF-34474F6F6306}" dt="2026-03-29T05:02:40.438" v="4848"/>
          <ac:spMkLst>
            <pc:docMk/>
            <pc:sldMk cId="1385581192" sldId="269"/>
            <ac:spMk id="12" creationId="{13D299D9-A0D5-48E1-08BD-2B2DC087FA0E}"/>
          </ac:spMkLst>
        </pc:spChg>
        <pc:spChg chg="add mod">
          <ac:chgData name="Sallam Saka" userId="f204d973-d51e-47d8-884c-bdcba18d93b4" providerId="ADAL" clId="{2B4C0566-A58E-4187-9DAF-34474F6F6306}" dt="2026-03-29T05:02:54.501" v="4852" actId="1036"/>
          <ac:spMkLst>
            <pc:docMk/>
            <pc:sldMk cId="1385581192" sldId="269"/>
            <ac:spMk id="13" creationId="{2C62B312-810F-8239-C829-C879A8C1E822}"/>
          </ac:spMkLst>
        </pc:spChg>
        <pc:spChg chg="add mod">
          <ac:chgData name="Sallam Saka" userId="f204d973-d51e-47d8-884c-bdcba18d93b4" providerId="ADAL" clId="{2B4C0566-A58E-4187-9DAF-34474F6F6306}" dt="2026-03-29T05:02:54.501" v="4852" actId="1036"/>
          <ac:spMkLst>
            <pc:docMk/>
            <pc:sldMk cId="1385581192" sldId="269"/>
            <ac:spMk id="14" creationId="{29F70221-F09E-9AE0-F553-14891707E94F}"/>
          </ac:spMkLst>
        </pc:spChg>
        <pc:picChg chg="add mod">
          <ac:chgData name="Sallam Saka" userId="f204d973-d51e-47d8-884c-bdcba18d93b4" providerId="ADAL" clId="{2B4C0566-A58E-4187-9DAF-34474F6F6306}" dt="2026-03-28T21:01:04.178" v="2039" actId="26606"/>
          <ac:picMkLst>
            <pc:docMk/>
            <pc:sldMk cId="1385581192" sldId="269"/>
            <ac:picMk id="4" creationId="{2F4C218C-53DD-42C6-1B86-5D3B667CEE79}"/>
          </ac:picMkLst>
        </pc:picChg>
      </pc:sldChg>
      <pc:sldChg chg="modSp add mod ord modNotesTx">
        <pc:chgData name="Sallam Saka" userId="f204d973-d51e-47d8-884c-bdcba18d93b4" providerId="ADAL" clId="{2B4C0566-A58E-4187-9DAF-34474F6F6306}" dt="2026-03-29T22:17:11.611" v="7706" actId="20577"/>
        <pc:sldMkLst>
          <pc:docMk/>
          <pc:sldMk cId="1635716787" sldId="270"/>
        </pc:sldMkLst>
        <pc:spChg chg="mod">
          <ac:chgData name="Sallam Saka" userId="f204d973-d51e-47d8-884c-bdcba18d93b4" providerId="ADAL" clId="{2B4C0566-A58E-4187-9DAF-34474F6F6306}" dt="2026-03-29T21:57:23.796" v="7681" actId="20577"/>
          <ac:spMkLst>
            <pc:docMk/>
            <pc:sldMk cId="1635716787" sldId="270"/>
            <ac:spMk id="2" creationId="{993C1544-BF00-FC04-B4A3-A79D8495EA47}"/>
          </ac:spMkLst>
        </pc:spChg>
        <pc:spChg chg="mod">
          <ac:chgData name="Sallam Saka" userId="f204d973-d51e-47d8-884c-bdcba18d93b4" providerId="ADAL" clId="{2B4C0566-A58E-4187-9DAF-34474F6F6306}" dt="2026-03-29T22:17:11.611" v="7706" actId="20577"/>
          <ac:spMkLst>
            <pc:docMk/>
            <pc:sldMk cId="1635716787" sldId="270"/>
            <ac:spMk id="3" creationId="{412B94E2-73AF-F01F-3079-39CF1AB0EC19}"/>
          </ac:spMkLst>
        </pc:spChg>
      </pc:sldChg>
      <pc:sldChg chg="addSp delSp modSp add mod ord replId modNotesTx">
        <pc:chgData name="Sallam Saka" userId="f204d973-d51e-47d8-884c-bdcba18d93b4" providerId="ADAL" clId="{2B4C0566-A58E-4187-9DAF-34474F6F6306}" dt="2026-03-29T18:29:40.568" v="6218" actId="113"/>
        <pc:sldMkLst>
          <pc:docMk/>
          <pc:sldMk cId="2158287523" sldId="271"/>
        </pc:sldMkLst>
        <pc:spChg chg="add del mod">
          <ac:chgData name="Sallam Saka" userId="f204d973-d51e-47d8-884c-bdcba18d93b4" providerId="ADAL" clId="{2B4C0566-A58E-4187-9DAF-34474F6F6306}" dt="2026-03-29T18:29:40.568" v="6218" actId="113"/>
          <ac:spMkLst>
            <pc:docMk/>
            <pc:sldMk cId="2158287523" sldId="271"/>
            <ac:spMk id="6" creationId="{18041124-975F-D801-2988-8CB19EBCB75D}"/>
          </ac:spMkLst>
        </pc:spChg>
      </pc:sldChg>
      <pc:sldChg chg="addSp modSp add mod ord modNotesTx">
        <pc:chgData name="Sallam Saka" userId="f204d973-d51e-47d8-884c-bdcba18d93b4" providerId="ADAL" clId="{2B4C0566-A58E-4187-9DAF-34474F6F6306}" dt="2026-03-30T22:02:51.813" v="8286" actId="20577"/>
        <pc:sldMkLst>
          <pc:docMk/>
          <pc:sldMk cId="27523503" sldId="282"/>
        </pc:sldMkLst>
        <pc:spChg chg="mod">
          <ac:chgData name="Sallam Saka" userId="f204d973-d51e-47d8-884c-bdcba18d93b4" providerId="ADAL" clId="{2B4C0566-A58E-4187-9DAF-34474F6F6306}" dt="2026-03-30T22:02:51.813" v="8286" actId="20577"/>
          <ac:spMkLst>
            <pc:docMk/>
            <pc:sldMk cId="27523503" sldId="282"/>
            <ac:spMk id="3" creationId="{91475C58-9070-AAC3-AB37-D3072ABA32C5}"/>
          </ac:spMkLst>
        </pc:spChg>
      </pc:sldChg>
      <pc:sldChg chg="modSp add mod modNotesTx">
        <pc:chgData name="Sallam Saka" userId="f204d973-d51e-47d8-884c-bdcba18d93b4" providerId="ADAL" clId="{2B4C0566-A58E-4187-9DAF-34474F6F6306}" dt="2026-03-29T22:37:42.335" v="7858"/>
        <pc:sldMkLst>
          <pc:docMk/>
          <pc:sldMk cId="4045871390" sldId="283"/>
        </pc:sldMkLst>
        <pc:spChg chg="mod">
          <ac:chgData name="Sallam Saka" userId="f204d973-d51e-47d8-884c-bdcba18d93b4" providerId="ADAL" clId="{2B4C0566-A58E-4187-9DAF-34474F6F6306}" dt="2026-03-29T22:37:42.335" v="7858"/>
          <ac:spMkLst>
            <pc:docMk/>
            <pc:sldMk cId="4045871390" sldId="283"/>
            <ac:spMk id="2" creationId="{DD77BEAC-6D7E-2F8E-C9A9-7B5565CB120E}"/>
          </ac:spMkLst>
        </pc:spChg>
        <pc:spChg chg="mod">
          <ac:chgData name="Sallam Saka" userId="f204d973-d51e-47d8-884c-bdcba18d93b4" providerId="ADAL" clId="{2B4C0566-A58E-4187-9DAF-34474F6F6306}" dt="2026-03-29T22:18:31.195" v="7732" actId="108"/>
          <ac:spMkLst>
            <pc:docMk/>
            <pc:sldMk cId="4045871390" sldId="283"/>
            <ac:spMk id="3" creationId="{CE3822D6-6AE9-E0C4-1745-6DFFA824604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8EAF1A-C6A9-455E-BA8A-9E8F5FA7A9E7}" type="datetimeFigureOut">
              <a:rPr lang="en-CA" smtClean="0"/>
              <a:t>2026-03-30</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9C18F4-25E8-4880-9284-548A345169E9}" type="slidenum">
              <a:rPr lang="en-CA" smtClean="0"/>
              <a:t>‹#›</a:t>
            </a:fld>
            <a:endParaRPr lang="en-CA"/>
          </a:p>
        </p:txBody>
      </p:sp>
    </p:spTree>
    <p:extLst>
      <p:ext uri="{BB962C8B-B14F-4D97-AF65-F5344CB8AC3E}">
        <p14:creationId xmlns:p14="http://schemas.microsoft.com/office/powerpoint/2010/main" val="4020212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04236-0FE5-428C-90D3-85F5626788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3A97D-F2FF-5F49-98A5-071E5DDA4F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A75258-0A9E-740D-ABEA-236F23358674}"/>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5789EEB6-D9B0-154D-DAE0-4200F56BDA8B}"/>
              </a:ext>
            </a:extLst>
          </p:cNvPr>
          <p:cNvSpPr>
            <a:spLocks noGrp="1"/>
          </p:cNvSpPr>
          <p:nvPr>
            <p:ph type="sldNum" sz="quarter" idx="5"/>
          </p:nvPr>
        </p:nvSpPr>
        <p:spPr/>
        <p:txBody>
          <a:bodyPr/>
          <a:lstStyle/>
          <a:p>
            <a:fld id="{B49C18F4-25E8-4880-9284-548A345169E9}" type="slidenum">
              <a:rPr lang="en-CA" smtClean="0"/>
              <a:t>1</a:t>
            </a:fld>
            <a:endParaRPr lang="en-CA"/>
          </a:p>
        </p:txBody>
      </p:sp>
    </p:spTree>
    <p:extLst>
      <p:ext uri="{BB962C8B-B14F-4D97-AF65-F5344CB8AC3E}">
        <p14:creationId xmlns:p14="http://schemas.microsoft.com/office/powerpoint/2010/main" val="326354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C636D-1332-2857-7D2E-59B4660752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3A5365-1B21-8AB2-59CF-FBD5541C38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EC7C10-04C8-A9D7-181F-9AB8779B8197}"/>
              </a:ext>
            </a:extLst>
          </p:cNvPr>
          <p:cNvSpPr>
            <a:spLocks noGrp="1"/>
          </p:cNvSpPr>
          <p:nvPr>
            <p:ph type="body" idx="1"/>
          </p:nvPr>
        </p:nvSpPr>
        <p:spPr/>
        <p:txBody>
          <a:bodyPr/>
          <a:lstStyle/>
          <a:p>
            <a:r>
              <a:rPr lang="en-CA" dirty="0" err="1"/>
              <a:t>Effiicient</a:t>
            </a:r>
            <a:r>
              <a:rPr lang="en-CA" dirty="0"/>
              <a:t> coding is an hypothesis that states that sensory systems are adapted to efficiently represent the environment under biological constraints.</a:t>
            </a:r>
          </a:p>
          <a:p>
            <a:r>
              <a:rPr lang="en-CA" dirty="0"/>
              <a:t>Classic quantitative work has shown how neural response properties can be efficiently matched to stimulus distributions (Laughlin 1981). </a:t>
            </a:r>
          </a:p>
          <a:p>
            <a:r>
              <a:rPr lang="en-CA" dirty="0"/>
              <a:t>However, natural environments are non stationary and sensory systems must continually adapt.</a:t>
            </a:r>
          </a:p>
          <a:p>
            <a:endParaRPr lang="en-CA" dirty="0"/>
          </a:p>
          <a:p>
            <a:r>
              <a:rPr lang="en-CA" dirty="0"/>
              <a:t>In their paper, </a:t>
            </a:r>
            <a:r>
              <a:rPr lang="en-CA" dirty="0" err="1"/>
              <a:t>Młynarski</a:t>
            </a:r>
            <a:r>
              <a:rPr lang="en-CA" dirty="0"/>
              <a:t> and </a:t>
            </a:r>
            <a:r>
              <a:rPr lang="en-CA" dirty="0" err="1"/>
              <a:t>Hermundstad</a:t>
            </a:r>
            <a:r>
              <a:rPr lang="en-CA" dirty="0"/>
              <a:t> study how sensory systems should adapt its encoding to dynamic environments given its inferred context (i.e. inferred current environmental state).</a:t>
            </a:r>
          </a:p>
          <a:p>
            <a:r>
              <a:rPr lang="en-CA" dirty="0"/>
              <a:t>They found that due to possible error in context inference, the locally optimal solution based on each inferred context does not necessarily minimize long-run global error but biasing the parameters of the locally optimal solutions towards more robust improves global performance.</a:t>
            </a:r>
          </a:p>
        </p:txBody>
      </p:sp>
      <p:sp>
        <p:nvSpPr>
          <p:cNvPr id="4" name="Slide Number Placeholder 3">
            <a:extLst>
              <a:ext uri="{FF2B5EF4-FFF2-40B4-BE49-F238E27FC236}">
                <a16:creationId xmlns:a16="http://schemas.microsoft.com/office/drawing/2014/main" id="{20AF93C2-031F-C78F-EA2D-720A0A42A7F5}"/>
              </a:ext>
            </a:extLst>
          </p:cNvPr>
          <p:cNvSpPr>
            <a:spLocks noGrp="1"/>
          </p:cNvSpPr>
          <p:nvPr>
            <p:ph type="sldNum" sz="quarter" idx="5"/>
          </p:nvPr>
        </p:nvSpPr>
        <p:spPr/>
        <p:txBody>
          <a:bodyPr/>
          <a:lstStyle/>
          <a:p>
            <a:fld id="{B49C18F4-25E8-4880-9284-548A345169E9}" type="slidenum">
              <a:rPr lang="en-CA" smtClean="0"/>
              <a:t>2</a:t>
            </a:fld>
            <a:endParaRPr lang="en-CA"/>
          </a:p>
        </p:txBody>
      </p:sp>
    </p:spTree>
    <p:extLst>
      <p:ext uri="{BB962C8B-B14F-4D97-AF65-F5344CB8AC3E}">
        <p14:creationId xmlns:p14="http://schemas.microsoft.com/office/powerpoint/2010/main" val="8292402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FC999-CFBE-A597-8C89-0573E3F572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84396-63C3-6479-4A15-10ED3929E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51838C-CC2A-C081-3C16-1BCBDEACC4F4}"/>
              </a:ext>
            </a:extLst>
          </p:cNvPr>
          <p:cNvSpPr>
            <a:spLocks noGrp="1"/>
          </p:cNvSpPr>
          <p:nvPr>
            <p:ph type="body" idx="1"/>
          </p:nvPr>
        </p:nvSpPr>
        <p:spPr/>
        <p:txBody>
          <a:bodyPr/>
          <a:lstStyle/>
          <a:p>
            <a:r>
              <a:rPr lang="en-US" dirty="0"/>
              <a:t>I build on </a:t>
            </a:r>
            <a:r>
              <a:rPr lang="en-US" dirty="0" err="1"/>
              <a:t>Młynarski</a:t>
            </a:r>
            <a:r>
              <a:rPr lang="en-US" dirty="0"/>
              <a:t> and </a:t>
            </a:r>
            <a:r>
              <a:rPr lang="en-US" dirty="0" err="1"/>
              <a:t>Hermundstad</a:t>
            </a:r>
            <a:r>
              <a:rPr lang="en-US" dirty="0"/>
              <a:t> by adding a second layer to encoding choice, where even given an estimated context, the system still has to decide when to switch codes.</a:t>
            </a:r>
          </a:p>
          <a:p>
            <a:r>
              <a:rPr lang="en-CA" dirty="0"/>
              <a:t>Rather than assuming immediate adoption of the inferred context, In my research, I compare two specific conservative switching rules, hysteresis and refractory lockout. </a:t>
            </a:r>
          </a:p>
          <a:p>
            <a:pPr lvl="1"/>
            <a:r>
              <a:rPr lang="en-CA" dirty="0"/>
              <a:t>Hysteresis is used here as a simple model to enforce stability. It forces the organism to reach an evidence threshold before changing its encoding function.</a:t>
            </a:r>
          </a:p>
          <a:p>
            <a:pPr lvl="1"/>
            <a:r>
              <a:rPr lang="en-CA" dirty="0"/>
              <a:t>Refractory lockout is included as a simple model of the reduced responsiveness that follows recent neural activity. </a:t>
            </a:r>
            <a:r>
              <a:rPr lang="en-US" dirty="0"/>
              <a:t>This is loosely motivated by the fact that neurons often show a refractory period after an action potential.</a:t>
            </a:r>
            <a:endParaRPr lang="en-CA" dirty="0"/>
          </a:p>
          <a:p>
            <a:endParaRPr lang="en-CA" dirty="0"/>
          </a:p>
        </p:txBody>
      </p:sp>
      <p:sp>
        <p:nvSpPr>
          <p:cNvPr id="4" name="Slide Number Placeholder 3">
            <a:extLst>
              <a:ext uri="{FF2B5EF4-FFF2-40B4-BE49-F238E27FC236}">
                <a16:creationId xmlns:a16="http://schemas.microsoft.com/office/drawing/2014/main" id="{67A0FE07-148D-2F89-F09A-BB294C2DA317}"/>
              </a:ext>
            </a:extLst>
          </p:cNvPr>
          <p:cNvSpPr>
            <a:spLocks noGrp="1"/>
          </p:cNvSpPr>
          <p:nvPr>
            <p:ph type="sldNum" sz="quarter" idx="5"/>
          </p:nvPr>
        </p:nvSpPr>
        <p:spPr/>
        <p:txBody>
          <a:bodyPr/>
          <a:lstStyle/>
          <a:p>
            <a:fld id="{B49C18F4-25E8-4880-9284-548A345169E9}" type="slidenum">
              <a:rPr lang="en-CA" smtClean="0"/>
              <a:t>3</a:t>
            </a:fld>
            <a:endParaRPr lang="en-CA"/>
          </a:p>
        </p:txBody>
      </p:sp>
    </p:spTree>
    <p:extLst>
      <p:ext uri="{BB962C8B-B14F-4D97-AF65-F5344CB8AC3E}">
        <p14:creationId xmlns:p14="http://schemas.microsoft.com/office/powerpoint/2010/main" val="2122639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 also consider 2 different environments which define the 2 contexts being switched between. The mean…</a:t>
            </a:r>
          </a:p>
          <a:p>
            <a:r>
              <a:rPr lang="en-CA" dirty="0"/>
              <a:t>Response  gaussian centered at zero with standard deviation of 0.18</a:t>
            </a:r>
          </a:p>
          <a:p>
            <a:r>
              <a:rPr lang="en-CA" dirty="0"/>
              <a:t>Parameters optimized numerically</a:t>
            </a:r>
          </a:p>
        </p:txBody>
      </p:sp>
      <p:sp>
        <p:nvSpPr>
          <p:cNvPr id="4" name="Slide Number Placeholder 3"/>
          <p:cNvSpPr>
            <a:spLocks noGrp="1"/>
          </p:cNvSpPr>
          <p:nvPr>
            <p:ph type="sldNum" sz="quarter" idx="5"/>
          </p:nvPr>
        </p:nvSpPr>
        <p:spPr/>
        <p:txBody>
          <a:bodyPr/>
          <a:lstStyle/>
          <a:p>
            <a:fld id="{B49C18F4-25E8-4880-9284-548A345169E9}" type="slidenum">
              <a:rPr lang="en-CA" smtClean="0"/>
              <a:t>4</a:t>
            </a:fld>
            <a:endParaRPr lang="en-CA"/>
          </a:p>
        </p:txBody>
      </p:sp>
    </p:spTree>
    <p:extLst>
      <p:ext uri="{BB962C8B-B14F-4D97-AF65-F5344CB8AC3E}">
        <p14:creationId xmlns:p14="http://schemas.microsoft.com/office/powerpoint/2010/main" val="2295210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I study the effects of the switching rules using 4 metrics</a:t>
            </a:r>
          </a:p>
          <a:p>
            <a:pPr lvl="1"/>
            <a:r>
              <a:rPr lang="en-US" dirty="0"/>
              <a:t>For hysteresis, I require the posterior probability of the alternative context to exceed a threshold before switching, and in my main simulations I set that threshold to 0.65.</a:t>
            </a:r>
            <a:br>
              <a:rPr lang="en-US" dirty="0"/>
            </a:br>
            <a:r>
              <a:rPr lang="en-US" dirty="0"/>
              <a:t>For refractory lockout, once a switch occurs, further switching is blocked for a fixed number of steps, which I set to 5 in the baseline simulations.</a:t>
            </a:r>
            <a:endParaRPr lang="en-CA" dirty="0"/>
          </a:p>
        </p:txBody>
      </p:sp>
      <p:sp>
        <p:nvSpPr>
          <p:cNvPr id="4" name="Slide Number Placeholder 3"/>
          <p:cNvSpPr>
            <a:spLocks noGrp="1"/>
          </p:cNvSpPr>
          <p:nvPr>
            <p:ph type="sldNum" sz="quarter" idx="5"/>
          </p:nvPr>
        </p:nvSpPr>
        <p:spPr/>
        <p:txBody>
          <a:bodyPr/>
          <a:lstStyle/>
          <a:p>
            <a:fld id="{B49C18F4-25E8-4880-9284-548A345169E9}" type="slidenum">
              <a:rPr lang="en-CA" smtClean="0"/>
              <a:t>5</a:t>
            </a:fld>
            <a:endParaRPr lang="en-CA"/>
          </a:p>
        </p:txBody>
      </p:sp>
    </p:spTree>
    <p:extLst>
      <p:ext uri="{BB962C8B-B14F-4D97-AF65-F5344CB8AC3E}">
        <p14:creationId xmlns:p14="http://schemas.microsoft.com/office/powerpoint/2010/main" val="40944995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Maybe highlight how variance switching global/mismatch </a:t>
            </a:r>
            <a:r>
              <a:rPr lang="en-CA" dirty="0" err="1"/>
              <a:t>mse</a:t>
            </a:r>
            <a:r>
              <a:rPr lang="en-CA" dirty="0"/>
              <a:t> tends to be lower in general and higher for rate and duration</a:t>
            </a:r>
          </a:p>
          <a:p>
            <a:r>
              <a:rPr lang="en-CA" dirty="0"/>
              <a:t>Guessing context for variance switching very hard but </a:t>
            </a:r>
            <a:r>
              <a:rPr lang="en-CA" dirty="0" err="1"/>
              <a:t>mse</a:t>
            </a:r>
            <a:r>
              <a:rPr lang="en-CA" dirty="0"/>
              <a:t> not that bad?</a:t>
            </a:r>
          </a:p>
          <a:p>
            <a:r>
              <a:rPr lang="en-CA" dirty="0"/>
              <a:t>	</a:t>
            </a:r>
            <a:r>
              <a:rPr lang="en-CA" dirty="0" err="1"/>
              <a:t>Mmismatch</a:t>
            </a:r>
            <a:r>
              <a:rPr lang="en-CA" dirty="0"/>
              <a:t> MSE mostly same</a:t>
            </a:r>
          </a:p>
          <a:p>
            <a:r>
              <a:rPr lang="en-CA" dirty="0"/>
              <a:t>Another thing I would like to draw your attention to is… in </a:t>
            </a:r>
            <a:r>
              <a:rPr lang="en-CA" dirty="0" err="1"/>
              <a:t>themean</a:t>
            </a:r>
            <a:r>
              <a:rPr lang="en-CA" dirty="0"/>
              <a:t> switching environment,…</a:t>
            </a:r>
          </a:p>
          <a:p>
            <a:r>
              <a:rPr lang="en-CA" dirty="0" err="1"/>
              <a:t>Misclassificaiton</a:t>
            </a:r>
            <a:r>
              <a:rPr lang="en-CA" dirty="0"/>
              <a:t> rate being rly diff for refractory shows that hysteresis seems to mostly act as a stabilizing mechanism rather than forcing misclassification. Refractory forces misclassification regardless of confidence. However, This pattern is less pronounced in the variance switching environment</a:t>
            </a:r>
          </a:p>
          <a:p>
            <a:r>
              <a:rPr lang="en-CA" dirty="0"/>
              <a:t>The main result I would like to highlight is this…</a:t>
            </a:r>
          </a:p>
          <a:p>
            <a:endParaRPr lang="en-CA" dirty="0"/>
          </a:p>
          <a:p>
            <a:r>
              <a:rPr lang="en-CA" dirty="0"/>
              <a:t>Maybe hysteresis mismatch duration </a:t>
            </a:r>
            <a:r>
              <a:rPr lang="en-CA" dirty="0" err="1"/>
              <a:t>cus</a:t>
            </a:r>
            <a:r>
              <a:rPr lang="en-CA" dirty="0"/>
              <a:t> lack of confidence</a:t>
            </a:r>
          </a:p>
          <a:p>
            <a:r>
              <a:rPr lang="en-CA" dirty="0"/>
              <a:t>I think the most important thing to take from these is: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Together, these results indicate that switching rules primarily modulate how mismatch is distributed over time, while their effect on overall error depends on the environment. Which will be </a:t>
            </a:r>
            <a:r>
              <a:rPr lang="en-CA" sz="1200" kern="1200" dirty="0" err="1">
                <a:solidFill>
                  <a:schemeClr val="tx1"/>
                </a:solidFill>
                <a:effectLst/>
                <a:latin typeface="+mn-lt"/>
                <a:ea typeface="+mn-ea"/>
                <a:cs typeface="+mn-cs"/>
              </a:rPr>
              <a:t>ofcused</a:t>
            </a:r>
            <a:r>
              <a:rPr lang="en-CA" sz="1200" kern="1200" dirty="0">
                <a:solidFill>
                  <a:schemeClr val="tx1"/>
                </a:solidFill>
                <a:effectLst/>
                <a:latin typeface="+mn-lt"/>
                <a:ea typeface="+mn-ea"/>
                <a:cs typeface="+mn-cs"/>
              </a:rPr>
              <a:t> on in subsequent analysis</a:t>
            </a:r>
          </a:p>
        </p:txBody>
      </p:sp>
      <p:sp>
        <p:nvSpPr>
          <p:cNvPr id="4" name="Slide Number Placeholder 3"/>
          <p:cNvSpPr>
            <a:spLocks noGrp="1"/>
          </p:cNvSpPr>
          <p:nvPr>
            <p:ph type="sldNum" sz="quarter" idx="5"/>
          </p:nvPr>
        </p:nvSpPr>
        <p:spPr/>
        <p:txBody>
          <a:bodyPr/>
          <a:lstStyle/>
          <a:p>
            <a:fld id="{B49C18F4-25E8-4880-9284-548A345169E9}" type="slidenum">
              <a:rPr lang="en-CA" smtClean="0"/>
              <a:t>6</a:t>
            </a:fld>
            <a:endParaRPr lang="en-CA"/>
          </a:p>
        </p:txBody>
      </p:sp>
    </p:spTree>
    <p:extLst>
      <p:ext uri="{BB962C8B-B14F-4D97-AF65-F5344CB8AC3E}">
        <p14:creationId xmlns:p14="http://schemas.microsoft.com/office/powerpoint/2010/main" val="2019842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kern="1200" dirty="0">
                <a:solidFill>
                  <a:schemeClr val="tx1"/>
                </a:solidFill>
                <a:effectLst/>
                <a:latin typeface="+mn-lt"/>
                <a:ea typeface="+mn-ea"/>
                <a:cs typeface="+mn-cs"/>
              </a:rPr>
              <a:t>Having established that switching rules primarily affect the temporal dynamics of mismatch, I then examine how the environment </a:t>
            </a:r>
            <a:r>
              <a:rPr lang="en-CA" sz="1200" kern="1200" dirty="0" err="1">
                <a:solidFill>
                  <a:schemeClr val="tx1"/>
                </a:solidFill>
                <a:effectLst/>
                <a:latin typeface="+mn-lt"/>
                <a:ea typeface="+mn-ea"/>
                <a:cs typeface="+mn-cs"/>
              </a:rPr>
              <a:t>mediadtes</a:t>
            </a:r>
            <a:r>
              <a:rPr lang="en-CA" sz="1200" kern="1200" dirty="0">
                <a:solidFill>
                  <a:schemeClr val="tx1"/>
                </a:solidFill>
                <a:effectLst/>
                <a:latin typeface="+mn-lt"/>
                <a:ea typeface="+mn-ea"/>
                <a:cs typeface="+mn-cs"/>
              </a:rPr>
              <a:t> the effect of switching rule on global performance.</a:t>
            </a:r>
          </a:p>
          <a:p>
            <a:r>
              <a:rPr lang="en-CA" sz="1200" kern="1200" dirty="0">
                <a:solidFill>
                  <a:schemeClr val="tx1"/>
                </a:solidFill>
                <a:effectLst/>
                <a:latin typeface="+mn-lt"/>
                <a:ea typeface="+mn-ea"/>
                <a:cs typeface="+mn-cs"/>
              </a:rPr>
              <a:t>Due to increased bias</a:t>
            </a:r>
          </a:p>
          <a:p>
            <a:r>
              <a:rPr lang="en-CA" sz="1200" kern="1200" dirty="0">
                <a:solidFill>
                  <a:schemeClr val="tx1"/>
                </a:solidFill>
                <a:effectLst/>
                <a:latin typeface="+mn-lt"/>
                <a:ea typeface="+mn-ea"/>
                <a:cs typeface="+mn-cs"/>
              </a:rPr>
              <a:t>Mean </a:t>
            </a:r>
            <a:r>
              <a:rPr lang="en-CA" sz="1200" kern="1200" dirty="0" err="1">
                <a:solidFill>
                  <a:schemeClr val="tx1"/>
                </a:solidFill>
                <a:effectLst/>
                <a:latin typeface="+mn-lt"/>
                <a:ea typeface="+mn-ea"/>
                <a:cs typeface="+mn-cs"/>
              </a:rPr>
              <a:t>differenc</a:t>
            </a:r>
            <a:r>
              <a:rPr lang="en-CA" sz="1200" kern="1200" dirty="0">
                <a:solidFill>
                  <a:schemeClr val="tx1"/>
                </a:solidFill>
                <a:effectLst/>
                <a:latin typeface="+mn-lt"/>
                <a:ea typeface="+mn-ea"/>
                <a:cs typeface="+mn-cs"/>
              </a:rPr>
              <a:t> </a:t>
            </a:r>
            <a:r>
              <a:rPr lang="en-CA" sz="1200" kern="1200" dirty="0" err="1">
                <a:solidFill>
                  <a:schemeClr val="tx1"/>
                </a:solidFill>
                <a:effectLst/>
                <a:latin typeface="+mn-lt"/>
                <a:ea typeface="+mn-ea"/>
                <a:cs typeface="+mn-cs"/>
              </a:rPr>
              <a:t>eof</a:t>
            </a:r>
            <a:r>
              <a:rPr lang="en-CA" sz="1200" kern="1200" dirty="0">
                <a:solidFill>
                  <a:schemeClr val="tx1"/>
                </a:solidFill>
                <a:effectLst/>
                <a:latin typeface="+mn-lt"/>
                <a:ea typeface="+mn-ea"/>
                <a:cs typeface="+mn-cs"/>
              </a:rPr>
              <a:t> 2 compared to 0.75 and variance difference of 1.1 instead of 0.5</a:t>
            </a:r>
          </a:p>
          <a:p>
            <a:r>
              <a:rPr lang="en-CA" sz="1200" kern="1200" dirty="0">
                <a:solidFill>
                  <a:schemeClr val="tx1"/>
                </a:solidFill>
                <a:effectLst/>
                <a:latin typeface="+mn-lt"/>
                <a:ea typeface="+mn-ea"/>
                <a:cs typeface="+mn-cs"/>
              </a:rPr>
              <a:t>From the top right and </a:t>
            </a:r>
            <a:r>
              <a:rPr lang="en-CA" sz="1200" kern="1200" dirty="0" err="1">
                <a:solidFill>
                  <a:schemeClr val="tx1"/>
                </a:solidFill>
                <a:effectLst/>
                <a:latin typeface="+mn-lt"/>
                <a:ea typeface="+mn-ea"/>
                <a:cs typeface="+mn-cs"/>
              </a:rPr>
              <a:t>bottome</a:t>
            </a:r>
            <a:r>
              <a:rPr lang="en-CA" sz="1200" kern="1200" dirty="0">
                <a:solidFill>
                  <a:schemeClr val="tx1"/>
                </a:solidFill>
                <a:effectLst/>
                <a:latin typeface="+mn-lt"/>
                <a:ea typeface="+mn-ea"/>
                <a:cs typeface="+mn-cs"/>
              </a:rPr>
              <a:t> left plots</a:t>
            </a:r>
            <a:endParaRPr lang="en-CA" dirty="0"/>
          </a:p>
        </p:txBody>
      </p:sp>
      <p:sp>
        <p:nvSpPr>
          <p:cNvPr id="4" name="Slide Number Placeholder 3"/>
          <p:cNvSpPr>
            <a:spLocks noGrp="1"/>
          </p:cNvSpPr>
          <p:nvPr>
            <p:ph type="sldNum" sz="quarter" idx="5"/>
          </p:nvPr>
        </p:nvSpPr>
        <p:spPr/>
        <p:txBody>
          <a:bodyPr/>
          <a:lstStyle/>
          <a:p>
            <a:fld id="{B49C18F4-25E8-4880-9284-548A345169E9}" type="slidenum">
              <a:rPr lang="en-CA" smtClean="0"/>
              <a:t>7</a:t>
            </a:fld>
            <a:endParaRPr lang="en-CA"/>
          </a:p>
        </p:txBody>
      </p:sp>
    </p:spTree>
    <p:extLst>
      <p:ext uri="{BB962C8B-B14F-4D97-AF65-F5344CB8AC3E}">
        <p14:creationId xmlns:p14="http://schemas.microsoft.com/office/powerpoint/2010/main" val="34314602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Together, these results show that context similarity modulates the impact of switching rules through two opposing effects. When contexts are more strongly separated, switching rules operate in a setting with fewer and shorter mismatch episodes, but those mismatch episodes become more costly when they occur. This is especially important for refractory lockout where you have no choice but to make the errors even I you are confident it is the wrong context. The effect of switching rule on global performance therefore depends on how context similarity shapes both the temporal dynamics of mismatch and the penalty associated with using the wrong code. </a:t>
            </a:r>
          </a:p>
          <a:p>
            <a:endParaRPr lang="en-CA" dirty="0"/>
          </a:p>
        </p:txBody>
      </p:sp>
      <p:sp>
        <p:nvSpPr>
          <p:cNvPr id="4" name="Slide Number Placeholder 3"/>
          <p:cNvSpPr>
            <a:spLocks noGrp="1"/>
          </p:cNvSpPr>
          <p:nvPr>
            <p:ph type="sldNum" sz="quarter" idx="5"/>
          </p:nvPr>
        </p:nvSpPr>
        <p:spPr/>
        <p:txBody>
          <a:bodyPr/>
          <a:lstStyle/>
          <a:p>
            <a:fld id="{B49C18F4-25E8-4880-9284-548A345169E9}" type="slidenum">
              <a:rPr lang="en-CA" smtClean="0"/>
              <a:t>8</a:t>
            </a:fld>
            <a:endParaRPr lang="en-CA"/>
          </a:p>
        </p:txBody>
      </p:sp>
    </p:spTree>
    <p:extLst>
      <p:ext uri="{BB962C8B-B14F-4D97-AF65-F5344CB8AC3E}">
        <p14:creationId xmlns:p14="http://schemas.microsoft.com/office/powerpoint/2010/main" val="3254385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19092-3E2D-61F6-A0FB-84FF2C7C0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C51A31-4040-D673-030F-70CEF87F1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2CEEDF-1FA7-6240-A6D3-CF384513DA58}"/>
              </a:ext>
            </a:extLst>
          </p:cNvPr>
          <p:cNvSpPr>
            <a:spLocks noGrp="1"/>
          </p:cNvSpPr>
          <p:nvPr>
            <p:ph type="body" idx="1"/>
          </p:nvPr>
        </p:nvSpPr>
        <p:spPr/>
        <p:txBody>
          <a:bodyPr/>
          <a:lstStyle/>
          <a:p>
            <a:r>
              <a:rPr lang="en-US" dirty="0"/>
              <a:t>These results suggest that biological constraints on switching can shape performance by altering mismatch over time.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Mismatch cost depends on how context shapes the </a:t>
            </a:r>
            <a:r>
              <a:rPr lang="en-US" b="1" dirty="0"/>
              <a:t>stimulus distribution which depends on the environment, so, in the 	 </a:t>
            </a:r>
            <a:r>
              <a:rPr lang="en-US" dirty="0"/>
              <a:t>Mean-switching environment, mismatch introduces </a:t>
            </a:r>
            <a:r>
              <a:rPr lang="en-US" b="1" dirty="0"/>
              <a:t>bias which</a:t>
            </a:r>
            <a:r>
              <a:rPr lang="en-US" dirty="0"/>
              <a:t> increases error for each mismatch while Variance-switching mismatch alters </a:t>
            </a:r>
            <a:r>
              <a:rPr lang="en-US" b="1" dirty="0"/>
              <a:t>uncertainty</a:t>
            </a:r>
            <a:r>
              <a:rPr lang="en-US" dirty="0"/>
              <a:t> which alters how close or far from the center our decoded stimuli estimate is</a:t>
            </a:r>
          </a:p>
          <a:p>
            <a:endParaRPr lang="en-CA" dirty="0"/>
          </a:p>
          <a:p>
            <a:r>
              <a:rPr lang="en-CA" dirty="0"/>
              <a:t>The results show that switching rules primarily affect performance through their impact on mismatch dynamics. Across both environments, differences in global MSE are explained by systematic changes in mismatch rate and mean mismatch duration, while mismatched MSE remains comparatively stable. This indicates that switching rules do not substantially alter the magnitude of error incurred during mismatch, but instead control how often mismatch occurs and how long it persists. As a result, global performance is determined not only by encoding quality, but by the temporal structure of mismatch.</a:t>
            </a:r>
          </a:p>
          <a:p>
            <a:r>
              <a:rPr lang="en-CA" dirty="0"/>
              <a:t>Importantly, the decomposition of global error reveals that performance differences are driven primarily by changes in mismatch rate and duration rather than changes in mismatched MSE. Because mismatched MSE is relatively invariant across switching rules, the dominant effect of switching is to redistribute error over time. </a:t>
            </a:r>
          </a:p>
          <a:p>
            <a:r>
              <a:rPr lang="en-CA" dirty="0"/>
              <a:t>In the mean-switching environment, mismatch produces a systematic bias in the decoded stimulus, leading to large errors that accumulate over prolonged mismatch periods. In contrast, in the variance-switching environment, mismatch primarily alters uncertainty without introducing a strong bias, resulting in a different relationship between mismatch dynamics and global error. </a:t>
            </a:r>
          </a:p>
          <a:p>
            <a:pPr lvl="1"/>
            <a:r>
              <a:rPr lang="en-CA" dirty="0"/>
              <a:t>these results show that the cost of mismatch depends on how context influences the stimulus distribution.</a:t>
            </a:r>
          </a:p>
          <a:p>
            <a:r>
              <a:rPr lang="en-CA" dirty="0"/>
              <a:t>These results extend classical efficient coding frameworks, which assume a known and stationary stimulus distribution (e.g., Laughlin, 1981; Ganguli and Simoncelli, 2014). In such settings, locally optimal encoding is sufficient to minimize error. However, when context must be inferred online, performance depends not only on encoding within each context but also on how context is inferred and how switching is implemented over time. </a:t>
            </a:r>
          </a:p>
          <a:p>
            <a:endParaRPr lang="en-CA" dirty="0"/>
          </a:p>
        </p:txBody>
      </p:sp>
      <p:sp>
        <p:nvSpPr>
          <p:cNvPr id="4" name="Slide Number Placeholder 3">
            <a:extLst>
              <a:ext uri="{FF2B5EF4-FFF2-40B4-BE49-F238E27FC236}">
                <a16:creationId xmlns:a16="http://schemas.microsoft.com/office/drawing/2014/main" id="{ECAE2299-B9C4-BFFB-CB5C-B9EBF98CE0C5}"/>
              </a:ext>
            </a:extLst>
          </p:cNvPr>
          <p:cNvSpPr>
            <a:spLocks noGrp="1"/>
          </p:cNvSpPr>
          <p:nvPr>
            <p:ph type="sldNum" sz="quarter" idx="5"/>
          </p:nvPr>
        </p:nvSpPr>
        <p:spPr/>
        <p:txBody>
          <a:bodyPr/>
          <a:lstStyle/>
          <a:p>
            <a:fld id="{B49C18F4-25E8-4880-9284-548A345169E9}" type="slidenum">
              <a:rPr lang="en-CA" smtClean="0"/>
              <a:t>9</a:t>
            </a:fld>
            <a:endParaRPr lang="en-CA"/>
          </a:p>
        </p:txBody>
      </p:sp>
    </p:spTree>
    <p:extLst>
      <p:ext uri="{BB962C8B-B14F-4D97-AF65-F5344CB8AC3E}">
        <p14:creationId xmlns:p14="http://schemas.microsoft.com/office/powerpoint/2010/main" val="279281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7A7F7-FDE3-B051-48D3-3C1DA1ED19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1FE906-0656-82C4-474C-55A20741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996279-4B12-3F14-D125-E0133F0BF847}"/>
              </a:ext>
            </a:extLst>
          </p:cNvPr>
          <p:cNvSpPr>
            <a:spLocks noGrp="1"/>
          </p:cNvSpPr>
          <p:nvPr>
            <p:ph type="body" idx="1"/>
          </p:nvPr>
        </p:nvSpPr>
        <p:spPr/>
        <p:txBody>
          <a:bodyPr/>
          <a:lstStyle/>
          <a:p>
            <a:r>
              <a:rPr lang="en-US" dirty="0"/>
              <a:t>Right now, the model assumes extremely simplified structure — a single neuron and only two contexts. This makes switching decisions very clean, but real sensory systems operate in more complex environments.</a:t>
            </a:r>
          </a:p>
          <a:p>
            <a:r>
              <a:rPr lang="en-US" dirty="0"/>
              <a:t>With population codes, different neurons can specialize to different parts of the stimulus or different contexts, which may reduce mismatch impact but also introduce coordination challenges in switching.</a:t>
            </a:r>
          </a:p>
          <a:p>
            <a:r>
              <a:rPr lang="en-US" dirty="0"/>
              <a:t>Another possible extension is having more complex contexts whether that’s by adding more than two contexts or </a:t>
            </a:r>
            <a:r>
              <a:rPr lang="en-CA" dirty="0"/>
              <a:t>changing the stimulus distributions</a:t>
            </a:r>
          </a:p>
          <a:p>
            <a:r>
              <a:rPr lang="en-CA" dirty="0"/>
              <a:t>Or studying other switching rules or complicating the current switching rules </a:t>
            </a:r>
            <a:r>
              <a:rPr lang="en-CA" dirty="0" err="1"/>
              <a:t>ot</a:t>
            </a:r>
            <a:r>
              <a:rPr lang="en-CA" dirty="0"/>
              <a:t> be context dependent or something</a:t>
            </a:r>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r>
              <a:rPr lang="en-CA" dirty="0"/>
              <a:t>the present model relies on several simplifying assumptions, including a single-neuron encoding scheme, a binary context structure, and fixed switching dynamics.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The constraints imposed by switching rules have natural parallels in biological systems, where encoding properties do not change instantaneously in response to environmental variation. </a:t>
            </a:r>
          </a:p>
          <a:p>
            <a:endParaRPr lang="en-CA" dirty="0"/>
          </a:p>
          <a:p>
            <a:r>
              <a:rPr lang="en-CA" dirty="0"/>
              <a:t>My research can be extended in many different directions, however, I believe some of the most important ones are: </a:t>
            </a:r>
          </a:p>
          <a:p>
            <a:pPr lvl="1"/>
            <a:r>
              <a:rPr lang="en-CA" dirty="0"/>
              <a:t>extending the one neuron framework to a population of neurons which allows for a specialization generalization </a:t>
            </a:r>
            <a:r>
              <a:rPr lang="en-CA" dirty="0" err="1"/>
              <a:t>tradeoff</a:t>
            </a:r>
            <a:r>
              <a:rPr lang="en-CA" dirty="0"/>
              <a:t> thing, </a:t>
            </a:r>
          </a:p>
          <a:p>
            <a:pPr lvl="1"/>
            <a:r>
              <a:rPr lang="en-CA" dirty="0"/>
              <a:t>more environments with </a:t>
            </a:r>
            <a:r>
              <a:rPr lang="en-CA" dirty="0" err="1"/>
              <a:t>obe</a:t>
            </a:r>
            <a:r>
              <a:rPr lang="en-CA" dirty="0"/>
              <a:t> or more complex or continuous context structures</a:t>
            </a:r>
          </a:p>
          <a:p>
            <a:pPr lvl="1"/>
            <a:r>
              <a:rPr lang="en-CA" dirty="0"/>
              <a:t>or adaptive switching rules would provide a more complete account of sensory processing in natural environments.</a:t>
            </a:r>
          </a:p>
          <a:p>
            <a:pPr lvl="1"/>
            <a:r>
              <a:rPr lang="en-CA" dirty="0"/>
              <a:t>Or going more in the </a:t>
            </a:r>
            <a:r>
              <a:rPr lang="en-CA" dirty="0" err="1"/>
              <a:t>mlynasry</a:t>
            </a:r>
            <a:r>
              <a:rPr lang="en-CA" dirty="0"/>
              <a:t> </a:t>
            </a:r>
            <a:r>
              <a:rPr lang="en-CA" dirty="0" err="1"/>
              <a:t>nd</a:t>
            </a:r>
            <a:r>
              <a:rPr lang="en-CA" dirty="0"/>
              <a:t> </a:t>
            </a:r>
            <a:r>
              <a:rPr lang="en-CA" dirty="0" err="1"/>
              <a:t>hermundstad</a:t>
            </a:r>
            <a:r>
              <a:rPr lang="en-CA" dirty="0"/>
              <a:t> direction and studying how the efficient codes change based on switching </a:t>
            </a:r>
            <a:r>
              <a:rPr lang="en-CA" dirty="0" err="1"/>
              <a:t>ruleIn</a:t>
            </a:r>
            <a:endParaRPr lang="en-CA" dirty="0"/>
          </a:p>
          <a:p>
            <a:pPr lvl="1"/>
            <a:endParaRPr lang="en-CA" dirty="0"/>
          </a:p>
          <a:p>
            <a:pPr lvl="1"/>
            <a:r>
              <a:rPr lang="en-CA" dirty="0"/>
              <a:t>In general, further extensions should align the model more with what is to be expected in natural environments and </a:t>
            </a:r>
          </a:p>
          <a:p>
            <a:r>
              <a:rPr lang="en-US" dirty="0"/>
              <a:t>These extensions would bring the framework closer to what we would expect in natural environments.</a:t>
            </a:r>
            <a:endParaRPr lang="en-CA" dirty="0"/>
          </a:p>
          <a:p>
            <a:endParaRPr lang="en-CA" dirty="0"/>
          </a:p>
        </p:txBody>
      </p:sp>
      <p:sp>
        <p:nvSpPr>
          <p:cNvPr id="4" name="Slide Number Placeholder 3">
            <a:extLst>
              <a:ext uri="{FF2B5EF4-FFF2-40B4-BE49-F238E27FC236}">
                <a16:creationId xmlns:a16="http://schemas.microsoft.com/office/drawing/2014/main" id="{B819F9BD-8C77-956D-9907-4DE5B6E49BC0}"/>
              </a:ext>
            </a:extLst>
          </p:cNvPr>
          <p:cNvSpPr>
            <a:spLocks noGrp="1"/>
          </p:cNvSpPr>
          <p:nvPr>
            <p:ph type="sldNum" sz="quarter" idx="5"/>
          </p:nvPr>
        </p:nvSpPr>
        <p:spPr/>
        <p:txBody>
          <a:bodyPr/>
          <a:lstStyle/>
          <a:p>
            <a:fld id="{B49C18F4-25E8-4880-9284-548A345169E9}" type="slidenum">
              <a:rPr lang="en-CA" smtClean="0"/>
              <a:t>10</a:t>
            </a:fld>
            <a:endParaRPr lang="en-CA"/>
          </a:p>
        </p:txBody>
      </p:sp>
    </p:spTree>
    <p:extLst>
      <p:ext uri="{BB962C8B-B14F-4D97-AF65-F5344CB8AC3E}">
        <p14:creationId xmlns:p14="http://schemas.microsoft.com/office/powerpoint/2010/main" val="30370086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85FBB-4641-3222-312F-23740DD4F1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8275D537-0654-ABDA-A885-FDEDE16547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1B6D7B8F-A80D-6F11-9F4F-9A879D39D490}"/>
              </a:ext>
            </a:extLst>
          </p:cNvPr>
          <p:cNvSpPr>
            <a:spLocks noGrp="1"/>
          </p:cNvSpPr>
          <p:nvPr>
            <p:ph type="dt" sz="half" idx="10"/>
          </p:nvPr>
        </p:nvSpPr>
        <p:spPr/>
        <p:txBody>
          <a:bodyPr/>
          <a:lstStyle/>
          <a:p>
            <a:fld id="{C7BCC6EB-29FF-413B-A4A4-F60D6CA9B7BA}" type="datetimeFigureOut">
              <a:rPr lang="en-CA" smtClean="0"/>
              <a:t>2026-03-30</a:t>
            </a:fld>
            <a:endParaRPr lang="en-CA"/>
          </a:p>
        </p:txBody>
      </p:sp>
      <p:sp>
        <p:nvSpPr>
          <p:cNvPr id="5" name="Footer Placeholder 4">
            <a:extLst>
              <a:ext uri="{FF2B5EF4-FFF2-40B4-BE49-F238E27FC236}">
                <a16:creationId xmlns:a16="http://schemas.microsoft.com/office/drawing/2014/main" id="{6535ACEE-82D8-D3D1-E0E4-8AF8BE1D997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F9046C6-AE8C-7A3C-C623-C8AFCFF863FE}"/>
              </a:ext>
            </a:extLst>
          </p:cNvPr>
          <p:cNvSpPr>
            <a:spLocks noGrp="1"/>
          </p:cNvSpPr>
          <p:nvPr>
            <p:ph type="sldNum" sz="quarter" idx="12"/>
          </p:nvPr>
        </p:nvSpPr>
        <p:spPr/>
        <p:txBody>
          <a:bodyPr/>
          <a:lstStyle/>
          <a:p>
            <a:fld id="{40C21861-37E4-4F24-9C2D-E580AE605AE4}" type="slidenum">
              <a:rPr lang="en-CA" smtClean="0"/>
              <a:t>‹#›</a:t>
            </a:fld>
            <a:endParaRPr lang="en-CA"/>
          </a:p>
        </p:txBody>
      </p:sp>
    </p:spTree>
    <p:extLst>
      <p:ext uri="{BB962C8B-B14F-4D97-AF65-F5344CB8AC3E}">
        <p14:creationId xmlns:p14="http://schemas.microsoft.com/office/powerpoint/2010/main" val="1740253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83DEF-8FF2-5794-8097-DC5E9977E51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EA454EE-6F41-4E76-B58C-7A254F8190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965A158-6C4B-1E4E-B630-F4A685D7CEA5}"/>
              </a:ext>
            </a:extLst>
          </p:cNvPr>
          <p:cNvSpPr>
            <a:spLocks noGrp="1"/>
          </p:cNvSpPr>
          <p:nvPr>
            <p:ph type="dt" sz="half" idx="10"/>
          </p:nvPr>
        </p:nvSpPr>
        <p:spPr/>
        <p:txBody>
          <a:bodyPr/>
          <a:lstStyle/>
          <a:p>
            <a:fld id="{C7BCC6EB-29FF-413B-A4A4-F60D6CA9B7BA}" type="datetimeFigureOut">
              <a:rPr lang="en-CA" smtClean="0"/>
              <a:t>2026-03-30</a:t>
            </a:fld>
            <a:endParaRPr lang="en-CA"/>
          </a:p>
        </p:txBody>
      </p:sp>
      <p:sp>
        <p:nvSpPr>
          <p:cNvPr id="5" name="Footer Placeholder 4">
            <a:extLst>
              <a:ext uri="{FF2B5EF4-FFF2-40B4-BE49-F238E27FC236}">
                <a16:creationId xmlns:a16="http://schemas.microsoft.com/office/drawing/2014/main" id="{A5AECCFC-94A1-C0F5-50B3-3BD8DB1569C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B346791-0FC8-A065-D557-71A10A18B797}"/>
              </a:ext>
            </a:extLst>
          </p:cNvPr>
          <p:cNvSpPr>
            <a:spLocks noGrp="1"/>
          </p:cNvSpPr>
          <p:nvPr>
            <p:ph type="sldNum" sz="quarter" idx="12"/>
          </p:nvPr>
        </p:nvSpPr>
        <p:spPr/>
        <p:txBody>
          <a:bodyPr/>
          <a:lstStyle/>
          <a:p>
            <a:fld id="{40C21861-37E4-4F24-9C2D-E580AE605AE4}" type="slidenum">
              <a:rPr lang="en-CA" smtClean="0"/>
              <a:t>‹#›</a:t>
            </a:fld>
            <a:endParaRPr lang="en-CA"/>
          </a:p>
        </p:txBody>
      </p:sp>
    </p:spTree>
    <p:extLst>
      <p:ext uri="{BB962C8B-B14F-4D97-AF65-F5344CB8AC3E}">
        <p14:creationId xmlns:p14="http://schemas.microsoft.com/office/powerpoint/2010/main" val="3390576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6DD39-8F5B-ED00-89EC-0062B55D38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AC84A4C8-04A3-D1AD-51A9-4345C7C8DD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10076E-A8F0-C19A-0446-7A9B61136A5F}"/>
              </a:ext>
            </a:extLst>
          </p:cNvPr>
          <p:cNvSpPr>
            <a:spLocks noGrp="1"/>
          </p:cNvSpPr>
          <p:nvPr>
            <p:ph type="dt" sz="half" idx="10"/>
          </p:nvPr>
        </p:nvSpPr>
        <p:spPr/>
        <p:txBody>
          <a:bodyPr/>
          <a:lstStyle/>
          <a:p>
            <a:fld id="{C7BCC6EB-29FF-413B-A4A4-F60D6CA9B7BA}" type="datetimeFigureOut">
              <a:rPr lang="en-CA" smtClean="0"/>
              <a:t>2026-03-30</a:t>
            </a:fld>
            <a:endParaRPr lang="en-CA"/>
          </a:p>
        </p:txBody>
      </p:sp>
      <p:sp>
        <p:nvSpPr>
          <p:cNvPr id="5" name="Footer Placeholder 4">
            <a:extLst>
              <a:ext uri="{FF2B5EF4-FFF2-40B4-BE49-F238E27FC236}">
                <a16:creationId xmlns:a16="http://schemas.microsoft.com/office/drawing/2014/main" id="{48628D7F-2A96-3E62-4B58-66EA930D7AB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F6A408D-2895-F5BF-EC0E-6E81D8AE80DE}"/>
              </a:ext>
            </a:extLst>
          </p:cNvPr>
          <p:cNvSpPr>
            <a:spLocks noGrp="1"/>
          </p:cNvSpPr>
          <p:nvPr>
            <p:ph type="sldNum" sz="quarter" idx="12"/>
          </p:nvPr>
        </p:nvSpPr>
        <p:spPr/>
        <p:txBody>
          <a:bodyPr/>
          <a:lstStyle/>
          <a:p>
            <a:fld id="{40C21861-37E4-4F24-9C2D-E580AE605AE4}" type="slidenum">
              <a:rPr lang="en-CA" smtClean="0"/>
              <a:t>‹#›</a:t>
            </a:fld>
            <a:endParaRPr lang="en-CA"/>
          </a:p>
        </p:txBody>
      </p:sp>
    </p:spTree>
    <p:extLst>
      <p:ext uri="{BB962C8B-B14F-4D97-AF65-F5344CB8AC3E}">
        <p14:creationId xmlns:p14="http://schemas.microsoft.com/office/powerpoint/2010/main" val="1042887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98598-322A-5FC8-7081-A702A3C55D8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1F18BECD-9551-C029-6355-271E2E6D2B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B33618B0-D1A8-77B2-DE7B-890842AC7F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B6AB4F40-2C5D-C5CE-A567-6BA8985275C4}"/>
              </a:ext>
            </a:extLst>
          </p:cNvPr>
          <p:cNvSpPr>
            <a:spLocks noGrp="1"/>
          </p:cNvSpPr>
          <p:nvPr>
            <p:ph type="dt" sz="half" idx="10"/>
          </p:nvPr>
        </p:nvSpPr>
        <p:spPr/>
        <p:txBody>
          <a:bodyPr/>
          <a:lstStyle/>
          <a:p>
            <a:fld id="{C7BCC6EB-29FF-413B-A4A4-F60D6CA9B7BA}" type="datetimeFigureOut">
              <a:rPr lang="en-CA" smtClean="0"/>
              <a:t>2026-03-30</a:t>
            </a:fld>
            <a:endParaRPr lang="en-CA"/>
          </a:p>
        </p:txBody>
      </p:sp>
      <p:sp>
        <p:nvSpPr>
          <p:cNvPr id="6" name="Footer Placeholder 5">
            <a:extLst>
              <a:ext uri="{FF2B5EF4-FFF2-40B4-BE49-F238E27FC236}">
                <a16:creationId xmlns:a16="http://schemas.microsoft.com/office/drawing/2014/main" id="{D124BEB8-8898-0045-E852-45F0C168FB7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4BADB21-650D-20C6-BE59-EC657B956B07}"/>
              </a:ext>
            </a:extLst>
          </p:cNvPr>
          <p:cNvSpPr>
            <a:spLocks noGrp="1"/>
          </p:cNvSpPr>
          <p:nvPr>
            <p:ph type="sldNum" sz="quarter" idx="12"/>
          </p:nvPr>
        </p:nvSpPr>
        <p:spPr/>
        <p:txBody>
          <a:bodyPr/>
          <a:lstStyle/>
          <a:p>
            <a:fld id="{40C21861-37E4-4F24-9C2D-E580AE605AE4}" type="slidenum">
              <a:rPr lang="en-CA" smtClean="0"/>
              <a:t>‹#›</a:t>
            </a:fld>
            <a:endParaRPr lang="en-CA"/>
          </a:p>
        </p:txBody>
      </p:sp>
    </p:spTree>
    <p:extLst>
      <p:ext uri="{BB962C8B-B14F-4D97-AF65-F5344CB8AC3E}">
        <p14:creationId xmlns:p14="http://schemas.microsoft.com/office/powerpoint/2010/main" val="2141113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6576A-FB3F-43BF-88E3-D0BEDE3E34DF}"/>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AFC230B-98C4-C56C-F510-6C311617EC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745912-9C16-7901-E399-DB66B90256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952F9A56-BB94-847F-1C02-6600C7B053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C0DA44-4C60-68B1-7EA1-339B664FB1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1EA38909-CE49-3610-AB8D-2F09E3861051}"/>
              </a:ext>
            </a:extLst>
          </p:cNvPr>
          <p:cNvSpPr>
            <a:spLocks noGrp="1"/>
          </p:cNvSpPr>
          <p:nvPr>
            <p:ph type="dt" sz="half" idx="10"/>
          </p:nvPr>
        </p:nvSpPr>
        <p:spPr/>
        <p:txBody>
          <a:bodyPr/>
          <a:lstStyle/>
          <a:p>
            <a:fld id="{C7BCC6EB-29FF-413B-A4A4-F60D6CA9B7BA}" type="datetimeFigureOut">
              <a:rPr lang="en-CA" smtClean="0"/>
              <a:t>2026-03-30</a:t>
            </a:fld>
            <a:endParaRPr lang="en-CA"/>
          </a:p>
        </p:txBody>
      </p:sp>
      <p:sp>
        <p:nvSpPr>
          <p:cNvPr id="8" name="Footer Placeholder 7">
            <a:extLst>
              <a:ext uri="{FF2B5EF4-FFF2-40B4-BE49-F238E27FC236}">
                <a16:creationId xmlns:a16="http://schemas.microsoft.com/office/drawing/2014/main" id="{90EB7C66-5A63-5E90-4961-6F399BA40FE9}"/>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6FDB21C3-4338-B264-E429-0334ACBAB76A}"/>
              </a:ext>
            </a:extLst>
          </p:cNvPr>
          <p:cNvSpPr>
            <a:spLocks noGrp="1"/>
          </p:cNvSpPr>
          <p:nvPr>
            <p:ph type="sldNum" sz="quarter" idx="12"/>
          </p:nvPr>
        </p:nvSpPr>
        <p:spPr/>
        <p:txBody>
          <a:bodyPr/>
          <a:lstStyle/>
          <a:p>
            <a:fld id="{40C21861-37E4-4F24-9C2D-E580AE605AE4}" type="slidenum">
              <a:rPr lang="en-CA" smtClean="0"/>
              <a:t>‹#›</a:t>
            </a:fld>
            <a:endParaRPr lang="en-CA"/>
          </a:p>
        </p:txBody>
      </p:sp>
    </p:spTree>
    <p:extLst>
      <p:ext uri="{BB962C8B-B14F-4D97-AF65-F5344CB8AC3E}">
        <p14:creationId xmlns:p14="http://schemas.microsoft.com/office/powerpoint/2010/main" val="3063333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B8AF4-42EA-17E1-C837-6455D2890725}"/>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628DF4A0-DC75-BA0A-91BA-6F6C8926D524}"/>
              </a:ext>
            </a:extLst>
          </p:cNvPr>
          <p:cNvSpPr>
            <a:spLocks noGrp="1"/>
          </p:cNvSpPr>
          <p:nvPr>
            <p:ph type="dt" sz="half" idx="10"/>
          </p:nvPr>
        </p:nvSpPr>
        <p:spPr/>
        <p:txBody>
          <a:bodyPr/>
          <a:lstStyle/>
          <a:p>
            <a:fld id="{C7BCC6EB-29FF-413B-A4A4-F60D6CA9B7BA}" type="datetimeFigureOut">
              <a:rPr lang="en-CA" smtClean="0"/>
              <a:t>2026-03-30</a:t>
            </a:fld>
            <a:endParaRPr lang="en-CA"/>
          </a:p>
        </p:txBody>
      </p:sp>
      <p:sp>
        <p:nvSpPr>
          <p:cNvPr id="4" name="Footer Placeholder 3">
            <a:extLst>
              <a:ext uri="{FF2B5EF4-FFF2-40B4-BE49-F238E27FC236}">
                <a16:creationId xmlns:a16="http://schemas.microsoft.com/office/drawing/2014/main" id="{81F8FA31-E084-A7B0-62AB-9D2C65F74BA9}"/>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D7109AC8-FE2C-7271-68BE-55CD7F7EFC3C}"/>
              </a:ext>
            </a:extLst>
          </p:cNvPr>
          <p:cNvSpPr>
            <a:spLocks noGrp="1"/>
          </p:cNvSpPr>
          <p:nvPr>
            <p:ph type="sldNum" sz="quarter" idx="12"/>
          </p:nvPr>
        </p:nvSpPr>
        <p:spPr/>
        <p:txBody>
          <a:bodyPr/>
          <a:lstStyle/>
          <a:p>
            <a:fld id="{40C21861-37E4-4F24-9C2D-E580AE605AE4}" type="slidenum">
              <a:rPr lang="en-CA" smtClean="0"/>
              <a:t>‹#›</a:t>
            </a:fld>
            <a:endParaRPr lang="en-CA"/>
          </a:p>
        </p:txBody>
      </p:sp>
    </p:spTree>
    <p:extLst>
      <p:ext uri="{BB962C8B-B14F-4D97-AF65-F5344CB8AC3E}">
        <p14:creationId xmlns:p14="http://schemas.microsoft.com/office/powerpoint/2010/main" val="1902357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F989C-D471-6DBC-148D-4F9939BA2E94}"/>
              </a:ext>
            </a:extLst>
          </p:cNvPr>
          <p:cNvSpPr>
            <a:spLocks noGrp="1"/>
          </p:cNvSpPr>
          <p:nvPr>
            <p:ph type="dt" sz="half" idx="10"/>
          </p:nvPr>
        </p:nvSpPr>
        <p:spPr/>
        <p:txBody>
          <a:bodyPr/>
          <a:lstStyle/>
          <a:p>
            <a:fld id="{C7BCC6EB-29FF-413B-A4A4-F60D6CA9B7BA}" type="datetimeFigureOut">
              <a:rPr lang="en-CA" smtClean="0"/>
              <a:t>2026-03-30</a:t>
            </a:fld>
            <a:endParaRPr lang="en-CA"/>
          </a:p>
        </p:txBody>
      </p:sp>
      <p:sp>
        <p:nvSpPr>
          <p:cNvPr id="3" name="Footer Placeholder 2">
            <a:extLst>
              <a:ext uri="{FF2B5EF4-FFF2-40B4-BE49-F238E27FC236}">
                <a16:creationId xmlns:a16="http://schemas.microsoft.com/office/drawing/2014/main" id="{D69FBB10-70D3-4624-EE89-210A23A24372}"/>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B8A3A387-3198-77AE-A2C9-96B7E9D64A2E}"/>
              </a:ext>
            </a:extLst>
          </p:cNvPr>
          <p:cNvSpPr>
            <a:spLocks noGrp="1"/>
          </p:cNvSpPr>
          <p:nvPr>
            <p:ph type="sldNum" sz="quarter" idx="12"/>
          </p:nvPr>
        </p:nvSpPr>
        <p:spPr/>
        <p:txBody>
          <a:bodyPr/>
          <a:lstStyle/>
          <a:p>
            <a:fld id="{40C21861-37E4-4F24-9C2D-E580AE605AE4}" type="slidenum">
              <a:rPr lang="en-CA" smtClean="0"/>
              <a:t>‹#›</a:t>
            </a:fld>
            <a:endParaRPr lang="en-CA"/>
          </a:p>
        </p:txBody>
      </p:sp>
    </p:spTree>
    <p:extLst>
      <p:ext uri="{BB962C8B-B14F-4D97-AF65-F5344CB8AC3E}">
        <p14:creationId xmlns:p14="http://schemas.microsoft.com/office/powerpoint/2010/main" val="693702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EF1F6-24D7-841E-BB1B-9CEE9411C7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AEC28B1D-FD2C-EF6C-D8A6-2998210146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81C8EF61-5EB4-0A4A-7169-8AE892C67E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CB7E4C-F97C-F05E-6988-2DE3D969CCAD}"/>
              </a:ext>
            </a:extLst>
          </p:cNvPr>
          <p:cNvSpPr>
            <a:spLocks noGrp="1"/>
          </p:cNvSpPr>
          <p:nvPr>
            <p:ph type="dt" sz="half" idx="10"/>
          </p:nvPr>
        </p:nvSpPr>
        <p:spPr/>
        <p:txBody>
          <a:bodyPr/>
          <a:lstStyle/>
          <a:p>
            <a:fld id="{C7BCC6EB-29FF-413B-A4A4-F60D6CA9B7BA}" type="datetimeFigureOut">
              <a:rPr lang="en-CA" smtClean="0"/>
              <a:t>2026-03-30</a:t>
            </a:fld>
            <a:endParaRPr lang="en-CA"/>
          </a:p>
        </p:txBody>
      </p:sp>
      <p:sp>
        <p:nvSpPr>
          <p:cNvPr id="6" name="Footer Placeholder 5">
            <a:extLst>
              <a:ext uri="{FF2B5EF4-FFF2-40B4-BE49-F238E27FC236}">
                <a16:creationId xmlns:a16="http://schemas.microsoft.com/office/drawing/2014/main" id="{87A23A3B-AA34-D003-B55C-CBA8B907171A}"/>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C9C11E67-900A-3C06-1FE3-A0B8837DFF76}"/>
              </a:ext>
            </a:extLst>
          </p:cNvPr>
          <p:cNvSpPr>
            <a:spLocks noGrp="1"/>
          </p:cNvSpPr>
          <p:nvPr>
            <p:ph type="sldNum" sz="quarter" idx="12"/>
          </p:nvPr>
        </p:nvSpPr>
        <p:spPr/>
        <p:txBody>
          <a:bodyPr/>
          <a:lstStyle/>
          <a:p>
            <a:fld id="{40C21861-37E4-4F24-9C2D-E580AE605AE4}" type="slidenum">
              <a:rPr lang="en-CA" smtClean="0"/>
              <a:t>‹#›</a:t>
            </a:fld>
            <a:endParaRPr lang="en-CA"/>
          </a:p>
        </p:txBody>
      </p:sp>
    </p:spTree>
    <p:extLst>
      <p:ext uri="{BB962C8B-B14F-4D97-AF65-F5344CB8AC3E}">
        <p14:creationId xmlns:p14="http://schemas.microsoft.com/office/powerpoint/2010/main" val="2536100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A6263-8E85-2D1A-35B4-8BAFC7C92C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915BF6F7-45C3-B0F6-6626-C8306EB845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FD254602-DA17-A015-757C-A327889CFF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61BB0D-B36C-4C11-C1EF-81AF9A979F24}"/>
              </a:ext>
            </a:extLst>
          </p:cNvPr>
          <p:cNvSpPr>
            <a:spLocks noGrp="1"/>
          </p:cNvSpPr>
          <p:nvPr>
            <p:ph type="dt" sz="half" idx="10"/>
          </p:nvPr>
        </p:nvSpPr>
        <p:spPr/>
        <p:txBody>
          <a:bodyPr/>
          <a:lstStyle/>
          <a:p>
            <a:fld id="{C7BCC6EB-29FF-413B-A4A4-F60D6CA9B7BA}" type="datetimeFigureOut">
              <a:rPr lang="en-CA" smtClean="0"/>
              <a:t>2026-03-30</a:t>
            </a:fld>
            <a:endParaRPr lang="en-CA"/>
          </a:p>
        </p:txBody>
      </p:sp>
      <p:sp>
        <p:nvSpPr>
          <p:cNvPr id="6" name="Footer Placeholder 5">
            <a:extLst>
              <a:ext uri="{FF2B5EF4-FFF2-40B4-BE49-F238E27FC236}">
                <a16:creationId xmlns:a16="http://schemas.microsoft.com/office/drawing/2014/main" id="{EBD6F032-10F1-32EA-2E2E-4DCB000ECFB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3CDFAAF-6933-3E25-9D33-912E012C8103}"/>
              </a:ext>
            </a:extLst>
          </p:cNvPr>
          <p:cNvSpPr>
            <a:spLocks noGrp="1"/>
          </p:cNvSpPr>
          <p:nvPr>
            <p:ph type="sldNum" sz="quarter" idx="12"/>
          </p:nvPr>
        </p:nvSpPr>
        <p:spPr/>
        <p:txBody>
          <a:bodyPr/>
          <a:lstStyle/>
          <a:p>
            <a:fld id="{40C21861-37E4-4F24-9C2D-E580AE605AE4}" type="slidenum">
              <a:rPr lang="en-CA" smtClean="0"/>
              <a:t>‹#›</a:t>
            </a:fld>
            <a:endParaRPr lang="en-CA"/>
          </a:p>
        </p:txBody>
      </p:sp>
    </p:spTree>
    <p:extLst>
      <p:ext uri="{BB962C8B-B14F-4D97-AF65-F5344CB8AC3E}">
        <p14:creationId xmlns:p14="http://schemas.microsoft.com/office/powerpoint/2010/main" val="770811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AA3D1-93A9-B83C-9824-BEF4498122AA}"/>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EAD02EA-3780-DDB9-76B1-AE7B3A5E44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00BC74E-296E-34B7-CE6D-266169AB9C0D}"/>
              </a:ext>
            </a:extLst>
          </p:cNvPr>
          <p:cNvSpPr>
            <a:spLocks noGrp="1"/>
          </p:cNvSpPr>
          <p:nvPr>
            <p:ph type="dt" sz="half" idx="10"/>
          </p:nvPr>
        </p:nvSpPr>
        <p:spPr/>
        <p:txBody>
          <a:bodyPr/>
          <a:lstStyle/>
          <a:p>
            <a:fld id="{C7BCC6EB-29FF-413B-A4A4-F60D6CA9B7BA}" type="datetimeFigureOut">
              <a:rPr lang="en-CA" smtClean="0"/>
              <a:t>2026-03-30</a:t>
            </a:fld>
            <a:endParaRPr lang="en-CA"/>
          </a:p>
        </p:txBody>
      </p:sp>
      <p:sp>
        <p:nvSpPr>
          <p:cNvPr id="5" name="Footer Placeholder 4">
            <a:extLst>
              <a:ext uri="{FF2B5EF4-FFF2-40B4-BE49-F238E27FC236}">
                <a16:creationId xmlns:a16="http://schemas.microsoft.com/office/drawing/2014/main" id="{2EA33CF0-DAAD-B092-E479-3D200C81C79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F4331DA-19D8-60EC-D7AF-A03F090B0DF3}"/>
              </a:ext>
            </a:extLst>
          </p:cNvPr>
          <p:cNvSpPr>
            <a:spLocks noGrp="1"/>
          </p:cNvSpPr>
          <p:nvPr>
            <p:ph type="sldNum" sz="quarter" idx="12"/>
          </p:nvPr>
        </p:nvSpPr>
        <p:spPr/>
        <p:txBody>
          <a:bodyPr/>
          <a:lstStyle/>
          <a:p>
            <a:fld id="{40C21861-37E4-4F24-9C2D-E580AE605AE4}" type="slidenum">
              <a:rPr lang="en-CA" smtClean="0"/>
              <a:t>‹#›</a:t>
            </a:fld>
            <a:endParaRPr lang="en-CA"/>
          </a:p>
        </p:txBody>
      </p:sp>
    </p:spTree>
    <p:extLst>
      <p:ext uri="{BB962C8B-B14F-4D97-AF65-F5344CB8AC3E}">
        <p14:creationId xmlns:p14="http://schemas.microsoft.com/office/powerpoint/2010/main" val="271913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4A67AD-E99A-9164-1342-DB1CA50B6B9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FFEBB30E-C27D-FAE7-3C94-13C7E92744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DBDD140-72F2-0145-971B-B986CF3013BD}"/>
              </a:ext>
            </a:extLst>
          </p:cNvPr>
          <p:cNvSpPr>
            <a:spLocks noGrp="1"/>
          </p:cNvSpPr>
          <p:nvPr>
            <p:ph type="dt" sz="half" idx="10"/>
          </p:nvPr>
        </p:nvSpPr>
        <p:spPr/>
        <p:txBody>
          <a:bodyPr/>
          <a:lstStyle/>
          <a:p>
            <a:fld id="{C7BCC6EB-29FF-413B-A4A4-F60D6CA9B7BA}" type="datetimeFigureOut">
              <a:rPr lang="en-CA" smtClean="0"/>
              <a:t>2026-03-30</a:t>
            </a:fld>
            <a:endParaRPr lang="en-CA"/>
          </a:p>
        </p:txBody>
      </p:sp>
      <p:sp>
        <p:nvSpPr>
          <p:cNvPr id="5" name="Footer Placeholder 4">
            <a:extLst>
              <a:ext uri="{FF2B5EF4-FFF2-40B4-BE49-F238E27FC236}">
                <a16:creationId xmlns:a16="http://schemas.microsoft.com/office/drawing/2014/main" id="{9857D844-ECF3-5E7F-583E-1709F41D8E6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7202BDC-EB9D-C06E-E481-3046EC1832C8}"/>
              </a:ext>
            </a:extLst>
          </p:cNvPr>
          <p:cNvSpPr>
            <a:spLocks noGrp="1"/>
          </p:cNvSpPr>
          <p:nvPr>
            <p:ph type="sldNum" sz="quarter" idx="12"/>
          </p:nvPr>
        </p:nvSpPr>
        <p:spPr/>
        <p:txBody>
          <a:bodyPr/>
          <a:lstStyle/>
          <a:p>
            <a:fld id="{40C21861-37E4-4F24-9C2D-E580AE605AE4}" type="slidenum">
              <a:rPr lang="en-CA" smtClean="0"/>
              <a:t>‹#›</a:t>
            </a:fld>
            <a:endParaRPr lang="en-CA"/>
          </a:p>
        </p:txBody>
      </p:sp>
    </p:spTree>
    <p:extLst>
      <p:ext uri="{BB962C8B-B14F-4D97-AF65-F5344CB8AC3E}">
        <p14:creationId xmlns:p14="http://schemas.microsoft.com/office/powerpoint/2010/main" val="2747229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7D7C63-9042-77D1-2D47-8EF4014F2C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EC78DF3-3BC1-9B02-8909-A601D9CE04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F0E70FD-E159-CDEF-BCA3-E9C192C8E2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BCC6EB-29FF-413B-A4A4-F60D6CA9B7BA}" type="datetimeFigureOut">
              <a:rPr lang="en-CA" smtClean="0"/>
              <a:t>2026-03-30</a:t>
            </a:fld>
            <a:endParaRPr lang="en-CA"/>
          </a:p>
        </p:txBody>
      </p:sp>
      <p:sp>
        <p:nvSpPr>
          <p:cNvPr id="5" name="Footer Placeholder 4">
            <a:extLst>
              <a:ext uri="{FF2B5EF4-FFF2-40B4-BE49-F238E27FC236}">
                <a16:creationId xmlns:a16="http://schemas.microsoft.com/office/drawing/2014/main" id="{16CCD50E-A2C9-89DE-1761-AB7DDD3339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8B0AABF1-DFE2-775D-CD7A-410FB75476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C21861-37E4-4F24-9C2D-E580AE605AE4}" type="slidenum">
              <a:rPr lang="en-CA" smtClean="0"/>
              <a:t>‹#›</a:t>
            </a:fld>
            <a:endParaRPr lang="en-CA"/>
          </a:p>
        </p:txBody>
      </p:sp>
    </p:spTree>
    <p:extLst>
      <p:ext uri="{BB962C8B-B14F-4D97-AF65-F5344CB8AC3E}">
        <p14:creationId xmlns:p14="http://schemas.microsoft.com/office/powerpoint/2010/main" val="35832019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0585D0-E111-F80B-94C5-17DECD49E743}"/>
            </a:ext>
          </a:extLst>
        </p:cNvPr>
        <p:cNvGrpSpPr/>
        <p:nvPr/>
      </p:nvGrpSpPr>
      <p:grpSpPr>
        <a:xfrm>
          <a:off x="0" y="0"/>
          <a:ext cx="0" cy="0"/>
          <a:chOff x="0" y="0"/>
          <a:chExt cx="0" cy="0"/>
        </a:xfrm>
      </p:grpSpPr>
      <p:sp>
        <p:nvSpPr>
          <p:cNvPr id="82" name="Rectangle 81">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his image shows two overlapping bell-shaped curves, each representing different probability distributions.&#10;&#10;AI-generated content may be incorrect.">
            <a:extLst>
              <a:ext uri="{FF2B5EF4-FFF2-40B4-BE49-F238E27FC236}">
                <a16:creationId xmlns:a16="http://schemas.microsoft.com/office/drawing/2014/main" id="{7B1CB624-F0B1-7291-B627-3A7F8FAC9AB2}"/>
              </a:ext>
            </a:extLst>
          </p:cNvPr>
          <p:cNvPicPr>
            <a:picLocks noChangeAspect="1"/>
          </p:cNvPicPr>
          <p:nvPr/>
        </p:nvPicPr>
        <p:blipFill>
          <a:blip r:embed="rId3">
            <a:alphaModFix amt="50000"/>
          </a:blip>
          <a:srcRect l="4580" t="-1" r="3105" b="-1"/>
          <a:stretch>
            <a:fillRect/>
          </a:stretch>
        </p:blipFill>
        <p:spPr>
          <a:xfrm>
            <a:off x="0" y="0"/>
            <a:ext cx="12188970" cy="6858000"/>
          </a:xfrm>
          <a:prstGeom prst="rect">
            <a:avLst/>
          </a:prstGeom>
        </p:spPr>
      </p:pic>
      <p:sp>
        <p:nvSpPr>
          <p:cNvPr id="2" name="Title 1">
            <a:extLst>
              <a:ext uri="{FF2B5EF4-FFF2-40B4-BE49-F238E27FC236}">
                <a16:creationId xmlns:a16="http://schemas.microsoft.com/office/drawing/2014/main" id="{FF5B7E42-1451-39C6-3626-5134ACC3DAFD}"/>
              </a:ext>
            </a:extLst>
          </p:cNvPr>
          <p:cNvSpPr>
            <a:spLocks noGrp="1"/>
          </p:cNvSpPr>
          <p:nvPr>
            <p:ph type="ctrTitle"/>
          </p:nvPr>
        </p:nvSpPr>
        <p:spPr>
          <a:xfrm>
            <a:off x="1524000" y="1122363"/>
            <a:ext cx="9144000" cy="3063240"/>
          </a:xfrm>
        </p:spPr>
        <p:txBody>
          <a:bodyPr>
            <a:normAutofit/>
          </a:bodyPr>
          <a:lstStyle/>
          <a:p>
            <a:r>
              <a:rPr lang="en-US" sz="5600" dirty="0">
                <a:solidFill>
                  <a:schemeClr val="bg1"/>
                </a:solidFill>
              </a:rPr>
              <a:t>Switching Rules and Mismatch Dynamics in Context-Dependent Encoding</a:t>
            </a:r>
            <a:endParaRPr lang="en-CA" sz="5600" dirty="0">
              <a:solidFill>
                <a:schemeClr val="bg1"/>
              </a:solidFill>
            </a:endParaRPr>
          </a:p>
        </p:txBody>
      </p:sp>
      <p:sp>
        <p:nvSpPr>
          <p:cNvPr id="3" name="Subtitle 2">
            <a:extLst>
              <a:ext uri="{FF2B5EF4-FFF2-40B4-BE49-F238E27FC236}">
                <a16:creationId xmlns:a16="http://schemas.microsoft.com/office/drawing/2014/main" id="{632AD773-B631-9F36-3C96-D024CC1082A9}"/>
              </a:ext>
            </a:extLst>
          </p:cNvPr>
          <p:cNvSpPr>
            <a:spLocks noGrp="1"/>
          </p:cNvSpPr>
          <p:nvPr>
            <p:ph type="subTitle" idx="1"/>
          </p:nvPr>
        </p:nvSpPr>
        <p:spPr>
          <a:xfrm>
            <a:off x="1527048" y="4599432"/>
            <a:ext cx="9144000" cy="1536192"/>
          </a:xfrm>
        </p:spPr>
        <p:txBody>
          <a:bodyPr>
            <a:normAutofit/>
          </a:bodyPr>
          <a:lstStyle/>
          <a:p>
            <a:r>
              <a:rPr lang="en-CA" dirty="0">
                <a:solidFill>
                  <a:schemeClr val="bg1"/>
                </a:solidFill>
              </a:rPr>
              <a:t>Name: Sallam Saka</a:t>
            </a:r>
          </a:p>
          <a:p>
            <a:r>
              <a:rPr lang="en-CA" dirty="0">
                <a:solidFill>
                  <a:schemeClr val="bg1"/>
                </a:solidFill>
              </a:rPr>
              <a:t>Course: PHY431 – Topics in Biological Physics</a:t>
            </a:r>
          </a:p>
          <a:p>
            <a:r>
              <a:rPr lang="en-CA" dirty="0">
                <a:solidFill>
                  <a:schemeClr val="bg1"/>
                </a:solidFill>
              </a:rPr>
              <a:t>Professor: Professor Sidhartha Goyal</a:t>
            </a:r>
          </a:p>
        </p:txBody>
      </p:sp>
      <p:sp>
        <p:nvSpPr>
          <p:cNvPr id="84"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8245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par>
                          <p:cTn id="11" fill="hold">
                            <p:stCondLst>
                              <p:cond delay="2200"/>
                            </p:stCondLst>
                            <p:childTnLst>
                              <p:par>
                                <p:cTn id="12" presetID="10" presetClass="entr" presetSubtype="0" fill="hold" grpId="0" nodeType="afterEffect">
                                  <p:stCondLst>
                                    <p:cond delay="0"/>
                                  </p:stCondLst>
                                  <p:iterate>
                                    <p:tmPct val="10000"/>
                                  </p:iterate>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700"/>
                                        <p:tgtEl>
                                          <p:spTgt spid="3">
                                            <p:txEl>
                                              <p:pRg st="1" end="1"/>
                                            </p:txEl>
                                          </p:spTgt>
                                        </p:tgtEl>
                                      </p:cBhvr>
                                    </p:animEffect>
                                  </p:childTnLst>
                                </p:cTn>
                              </p:par>
                            </p:childTnLst>
                          </p:cTn>
                        </p:par>
                        <p:par>
                          <p:cTn id="15" fill="hold">
                            <p:stCondLst>
                              <p:cond delay="2900"/>
                            </p:stCondLst>
                            <p:childTnLst>
                              <p:par>
                                <p:cTn id="16" presetID="10" presetClass="entr" presetSubtype="0" fill="hold" grpId="0" nodeType="afterEffect">
                                  <p:stCondLst>
                                    <p:cond delay="0"/>
                                  </p:stCondLst>
                                  <p:iterate>
                                    <p:tmPct val="10000"/>
                                  </p:iterate>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7D443-4F10-D202-AE83-28ABB5D13B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3C1544-BF00-FC04-B4A3-A79D8495EA47}"/>
              </a:ext>
            </a:extLst>
          </p:cNvPr>
          <p:cNvSpPr>
            <a:spLocks noGrp="1"/>
          </p:cNvSpPr>
          <p:nvPr>
            <p:ph type="title"/>
          </p:nvPr>
        </p:nvSpPr>
        <p:spPr/>
        <p:txBody>
          <a:bodyPr/>
          <a:lstStyle/>
          <a:p>
            <a:r>
              <a:rPr lang="en-US" dirty="0"/>
              <a:t>Efficient Coding in Changing Environments</a:t>
            </a:r>
            <a:endParaRPr lang="en-CA" dirty="0"/>
          </a:p>
        </p:txBody>
      </p:sp>
      <p:sp>
        <p:nvSpPr>
          <p:cNvPr id="3" name="Content Placeholder 2">
            <a:extLst>
              <a:ext uri="{FF2B5EF4-FFF2-40B4-BE49-F238E27FC236}">
                <a16:creationId xmlns:a16="http://schemas.microsoft.com/office/drawing/2014/main" id="{412B94E2-73AF-F01F-3079-39CF1AB0EC19}"/>
              </a:ext>
            </a:extLst>
          </p:cNvPr>
          <p:cNvSpPr>
            <a:spLocks noGrp="1"/>
          </p:cNvSpPr>
          <p:nvPr>
            <p:ph idx="1"/>
          </p:nvPr>
        </p:nvSpPr>
        <p:spPr/>
        <p:txBody>
          <a:bodyPr>
            <a:normAutofit lnSpcReduction="10000"/>
          </a:bodyPr>
          <a:lstStyle/>
          <a:p>
            <a:r>
              <a:rPr lang="en-US" b="1" dirty="0"/>
              <a:t>Efficient coding:</a:t>
            </a:r>
            <a:r>
              <a:rPr lang="en-US" dirty="0"/>
              <a:t> sensory systems allocate limited resources to represent their environment efficiently.</a:t>
            </a:r>
          </a:p>
          <a:p>
            <a:r>
              <a:rPr lang="en-US" dirty="0"/>
              <a:t>Many classical works on efficient coding assume a </a:t>
            </a:r>
            <a:r>
              <a:rPr lang="en-US" b="1" dirty="0"/>
              <a:t>stationary</a:t>
            </a:r>
            <a:r>
              <a:rPr lang="en-US" dirty="0"/>
              <a:t> stimulus distribution (</a:t>
            </a:r>
            <a:r>
              <a:rPr lang="en-CA" dirty="0"/>
              <a:t>Laughlin 1981</a:t>
            </a:r>
            <a:r>
              <a:rPr lang="en-US" dirty="0"/>
              <a:t>).</a:t>
            </a:r>
          </a:p>
          <a:p>
            <a:r>
              <a:rPr lang="en-US" dirty="0"/>
              <a:t>In real environments, context changes and must be </a:t>
            </a:r>
            <a:r>
              <a:rPr lang="en-US" b="1" dirty="0"/>
              <a:t>inferred in time </a:t>
            </a:r>
            <a:r>
              <a:rPr lang="en-US" dirty="0"/>
              <a:t>as data arrives.</a:t>
            </a:r>
          </a:p>
          <a:p>
            <a:r>
              <a:rPr lang="en-US" dirty="0"/>
              <a:t>Inference errors can produce </a:t>
            </a:r>
            <a:r>
              <a:rPr lang="en-US" b="1" dirty="0"/>
              <a:t>mismatch</a:t>
            </a:r>
            <a:r>
              <a:rPr lang="en-US" dirty="0"/>
              <a:t> between the selected and true code.</a:t>
            </a:r>
          </a:p>
          <a:p>
            <a:r>
              <a:rPr lang="en-US" dirty="0"/>
              <a:t>Therefore, local optimality need not imply </a:t>
            </a:r>
            <a:r>
              <a:rPr lang="en-US" b="1" dirty="0"/>
              <a:t>global optimality </a:t>
            </a:r>
            <a:r>
              <a:rPr lang="en-US" dirty="0"/>
              <a:t>(</a:t>
            </a:r>
            <a:r>
              <a:rPr lang="en-CA" dirty="0" err="1"/>
              <a:t>Młynarski</a:t>
            </a:r>
            <a:r>
              <a:rPr lang="en-CA" dirty="0"/>
              <a:t> and </a:t>
            </a:r>
            <a:r>
              <a:rPr lang="en-CA" dirty="0" err="1"/>
              <a:t>Hermundstad</a:t>
            </a:r>
            <a:r>
              <a:rPr lang="en-CA" dirty="0"/>
              <a:t>, 2021</a:t>
            </a:r>
            <a:r>
              <a:rPr lang="en-US" dirty="0"/>
              <a:t>).</a:t>
            </a:r>
          </a:p>
        </p:txBody>
      </p:sp>
    </p:spTree>
    <p:extLst>
      <p:ext uri="{BB962C8B-B14F-4D97-AF65-F5344CB8AC3E}">
        <p14:creationId xmlns:p14="http://schemas.microsoft.com/office/powerpoint/2010/main" val="1635716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06DAD-F8B6-6136-1BDD-769F5D324C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AB8AA-3431-E35D-66DC-4FFAD6B0B804}"/>
              </a:ext>
            </a:extLst>
          </p:cNvPr>
          <p:cNvSpPr>
            <a:spLocks noGrp="1"/>
          </p:cNvSpPr>
          <p:nvPr>
            <p:ph type="title"/>
          </p:nvPr>
        </p:nvSpPr>
        <p:spPr/>
        <p:txBody>
          <a:bodyPr/>
          <a:lstStyle/>
          <a:p>
            <a:r>
              <a:rPr lang="en-US" dirty="0"/>
              <a:t>How Do Switching Rules Affect Performance When Context Is Inferred?</a:t>
            </a:r>
            <a:endParaRPr lang="en-CA" dirty="0"/>
          </a:p>
        </p:txBody>
      </p:sp>
      <p:sp>
        <p:nvSpPr>
          <p:cNvPr id="6" name="Content Placeholder 5">
            <a:extLst>
              <a:ext uri="{FF2B5EF4-FFF2-40B4-BE49-F238E27FC236}">
                <a16:creationId xmlns:a16="http://schemas.microsoft.com/office/drawing/2014/main" id="{18041124-975F-D801-2988-8CB19EBCB75D}"/>
              </a:ext>
            </a:extLst>
          </p:cNvPr>
          <p:cNvSpPr>
            <a:spLocks noGrp="1"/>
          </p:cNvSpPr>
          <p:nvPr>
            <p:ph idx="1"/>
          </p:nvPr>
        </p:nvSpPr>
        <p:spPr/>
        <p:txBody>
          <a:bodyPr/>
          <a:lstStyle/>
          <a:p>
            <a:r>
              <a:rPr lang="en-US" dirty="0"/>
              <a:t>Context Inference alone does not determine </a:t>
            </a:r>
            <a:r>
              <a:rPr lang="en-US" b="1" dirty="0"/>
              <a:t>when</a:t>
            </a:r>
            <a:r>
              <a:rPr lang="en-US" dirty="0"/>
              <a:t> encoding changes.</a:t>
            </a:r>
          </a:p>
          <a:p>
            <a:r>
              <a:rPr lang="en-US" dirty="0"/>
              <a:t>The system must decide </a:t>
            </a:r>
            <a:r>
              <a:rPr lang="en-US" b="1" dirty="0"/>
              <a:t>when</a:t>
            </a:r>
            <a:r>
              <a:rPr lang="en-US" dirty="0"/>
              <a:t> to adopt the inferred context.</a:t>
            </a:r>
          </a:p>
          <a:p>
            <a:r>
              <a:rPr lang="en-US" b="1" dirty="0"/>
              <a:t>Switching rules </a:t>
            </a:r>
            <a:r>
              <a:rPr lang="en-US" dirty="0"/>
              <a:t>impose different levels of stability.</a:t>
            </a:r>
          </a:p>
          <a:p>
            <a:r>
              <a:rPr lang="en-US" dirty="0"/>
              <a:t>I compare two conservative switching rules:</a:t>
            </a:r>
          </a:p>
          <a:p>
            <a:pPr lvl="1"/>
            <a:r>
              <a:rPr lang="en-US" b="1" dirty="0"/>
              <a:t>Hysteresis</a:t>
            </a:r>
            <a:r>
              <a:rPr lang="en-US" dirty="0"/>
              <a:t>: requires </a:t>
            </a:r>
            <a:r>
              <a:rPr lang="en-US" b="1" dirty="0"/>
              <a:t>stronger evidence </a:t>
            </a:r>
            <a:r>
              <a:rPr lang="en-US" dirty="0"/>
              <a:t>to switch than to stay.</a:t>
            </a:r>
          </a:p>
          <a:p>
            <a:pPr lvl="1"/>
            <a:r>
              <a:rPr lang="en-US" b="1" dirty="0"/>
              <a:t>Refractory lockout</a:t>
            </a:r>
            <a:r>
              <a:rPr lang="en-US" dirty="0"/>
              <a:t>: temporarily </a:t>
            </a:r>
            <a:r>
              <a:rPr lang="en-US" b="1" dirty="0"/>
              <a:t>prevents</a:t>
            </a:r>
            <a:r>
              <a:rPr lang="en-US" dirty="0"/>
              <a:t> switching after a recent switch.</a:t>
            </a:r>
            <a:endParaRPr lang="en-CA" dirty="0"/>
          </a:p>
        </p:txBody>
      </p:sp>
    </p:spTree>
    <p:extLst>
      <p:ext uri="{BB962C8B-B14F-4D97-AF65-F5344CB8AC3E}">
        <p14:creationId xmlns:p14="http://schemas.microsoft.com/office/powerpoint/2010/main" val="2158287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7B391-343B-876C-E9E4-2BB9E6BB45AD}"/>
              </a:ext>
            </a:extLst>
          </p:cNvPr>
          <p:cNvSpPr>
            <a:spLocks noGrp="1"/>
          </p:cNvSpPr>
          <p:nvPr>
            <p:ph type="title"/>
          </p:nvPr>
        </p:nvSpPr>
        <p:spPr/>
        <p:txBody>
          <a:bodyPr/>
          <a:lstStyle/>
          <a:p>
            <a:r>
              <a:rPr lang="en-US" dirty="0"/>
              <a:t>Sequential Model of Context Inference and Encoding</a:t>
            </a:r>
            <a:endParaRPr lang="en-CA"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C58C48-4A42-082B-84E8-B387245BD259}"/>
                  </a:ext>
                </a:extLst>
              </p:cNvPr>
              <p:cNvSpPr>
                <a:spLocks noGrp="1"/>
              </p:cNvSpPr>
              <p:nvPr>
                <p:ph idx="1"/>
              </p:nvPr>
            </p:nvSpPr>
            <p:spPr/>
            <p:txBody>
              <a:bodyPr>
                <a:normAutofit lnSpcReduction="10000"/>
              </a:bodyPr>
              <a:lstStyle/>
              <a:p>
                <a:r>
                  <a:rPr lang="en-CA" dirty="0"/>
                  <a:t>I study a simplified two-context, one-neuron model.</a:t>
                </a:r>
              </a:p>
              <a:p>
                <a:r>
                  <a:rPr lang="en-CA" dirty="0"/>
                  <a:t>The latent context follows a </a:t>
                </a:r>
                <a:r>
                  <a:rPr lang="en-CA" b="1" dirty="0"/>
                  <a:t>two-state Markov process</a:t>
                </a:r>
                <a:r>
                  <a:rPr lang="en-CA" dirty="0"/>
                  <a:t> with switch probability </a:t>
                </a:r>
                <a14:m>
                  <m:oMath xmlns:m="http://schemas.openxmlformats.org/officeDocument/2006/math">
                    <m:sSub>
                      <m:sSubPr>
                        <m:ctrlPr>
                          <a:rPr lang="ar-EG" i="1">
                            <a:latin typeface="Cambria Math" panose="02040503050406030204" pitchFamily="18" charset="0"/>
                          </a:rPr>
                        </m:ctrlPr>
                      </m:sSubPr>
                      <m:e>
                        <m:r>
                          <a:rPr lang="ar-EG" i="1">
                            <a:latin typeface="Cambria Math" panose="02040503050406030204" pitchFamily="18" charset="0"/>
                          </a:rPr>
                          <m:t>𝑝</m:t>
                        </m:r>
                      </m:e>
                      <m:sub>
                        <m:r>
                          <m:rPr>
                            <m:sty m:val="p"/>
                          </m:rPr>
                          <a:rPr lang="en-CA">
                            <a:latin typeface="Cambria Math" panose="02040503050406030204" pitchFamily="18" charset="0"/>
                          </a:rPr>
                          <m:t>switch</m:t>
                        </m:r>
                      </m:sub>
                    </m:sSub>
                  </m:oMath>
                </a14:m>
                <a:r>
                  <a:rPr lang="en-CA" dirty="0"/>
                  <a:t>.</a:t>
                </a:r>
              </a:p>
              <a:p>
                <a:r>
                  <a:rPr lang="en-CA" dirty="0"/>
                  <a:t>Mean-switching environment:</a:t>
                </a:r>
              </a:p>
              <a:p>
                <a:pPr lvl="1"/>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𝑋</m:t>
                        </m:r>
                      </m:e>
                      <m:sub>
                        <m:r>
                          <a:rPr lang="en-CA" i="1">
                            <a:latin typeface="Cambria Math" panose="02040503050406030204" pitchFamily="18" charset="0"/>
                          </a:rPr>
                          <m:t>𝑡</m:t>
                        </m:r>
                      </m:sub>
                    </m:sSub>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𝐶</m:t>
                        </m:r>
                      </m:e>
                      <m:sub>
                        <m:r>
                          <a:rPr lang="en-CA" i="1">
                            <a:latin typeface="Cambria Math" panose="02040503050406030204" pitchFamily="18" charset="0"/>
                          </a:rPr>
                          <m:t>𝑡</m:t>
                        </m:r>
                      </m:sub>
                    </m:sSub>
                    <m:r>
                      <a:rPr lang="en-CA" i="1">
                        <a:latin typeface="Cambria Math" panose="02040503050406030204" pitchFamily="18" charset="0"/>
                      </a:rPr>
                      <m:t>=</m:t>
                    </m:r>
                    <m:r>
                      <a:rPr lang="en-CA" i="1">
                        <a:latin typeface="Cambria Math" panose="02040503050406030204" pitchFamily="18" charset="0"/>
                      </a:rPr>
                      <m:t>0</m:t>
                    </m:r>
                    <m:r>
                      <a:rPr lang="en-CA" i="1">
                        <a:latin typeface="Cambria Math" panose="02040503050406030204" pitchFamily="18" charset="0"/>
                      </a:rPr>
                      <m:t> ∼</m:t>
                    </m:r>
                    <m:r>
                      <a:rPr lang="en-CA">
                        <a:latin typeface="Cambria Math" panose="02040503050406030204" pitchFamily="18" charset="0"/>
                      </a:rPr>
                      <m:t>𝒩</m:t>
                    </m:r>
                    <m:d>
                      <m:dPr>
                        <m:sepChr m:val=","/>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𝜇</m:t>
                            </m:r>
                          </m:e>
                          <m:sub>
                            <m:r>
                              <a:rPr lang="en-CA" i="1">
                                <a:latin typeface="Cambria Math" panose="02040503050406030204" pitchFamily="18" charset="0"/>
                              </a:rPr>
                              <m:t>0</m:t>
                            </m:r>
                          </m:sub>
                        </m:sSub>
                      </m:e>
                      <m:e>
                        <m:r>
                          <a:rPr lang="en-CA" b="0" i="1" smtClean="0">
                            <a:latin typeface="Cambria Math" panose="02040503050406030204" pitchFamily="18" charset="0"/>
                          </a:rPr>
                          <m:t>1</m:t>
                        </m:r>
                      </m:e>
                    </m:d>
                    <m:r>
                      <a:rPr lang="en-CA" i="1">
                        <a:latin typeface="Cambria Math" panose="02040503050406030204" pitchFamily="18" charset="0"/>
                      </a:rPr>
                      <m:t>, </m:t>
                    </m:r>
                    <m:r>
                      <a:rPr lang="en-CA" b="0" i="1" smtClean="0">
                        <a:latin typeface="Cambria Math" panose="02040503050406030204" pitchFamily="18" charset="0"/>
                      </a:rPr>
                      <m:t>    </m:t>
                    </m:r>
                    <m:sSub>
                      <m:sSubPr>
                        <m:ctrlPr>
                          <a:rPr lang="en-CA" i="1">
                            <a:latin typeface="Cambria Math" panose="02040503050406030204" pitchFamily="18" charset="0"/>
                          </a:rPr>
                        </m:ctrlPr>
                      </m:sSubPr>
                      <m:e>
                        <m:r>
                          <a:rPr lang="en-CA" i="1">
                            <a:latin typeface="Cambria Math" panose="02040503050406030204" pitchFamily="18" charset="0"/>
                          </a:rPr>
                          <m:t>𝑋</m:t>
                        </m:r>
                      </m:e>
                      <m:sub>
                        <m:r>
                          <a:rPr lang="en-CA" i="1">
                            <a:latin typeface="Cambria Math" panose="02040503050406030204" pitchFamily="18" charset="0"/>
                          </a:rPr>
                          <m:t>𝑡</m:t>
                        </m:r>
                      </m:sub>
                    </m:sSub>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𝐶</m:t>
                        </m:r>
                      </m:e>
                      <m:sub>
                        <m:r>
                          <a:rPr lang="en-CA" i="1">
                            <a:latin typeface="Cambria Math" panose="02040503050406030204" pitchFamily="18" charset="0"/>
                          </a:rPr>
                          <m:t>𝑡</m:t>
                        </m:r>
                      </m:sub>
                    </m:sSub>
                    <m:r>
                      <a:rPr lang="en-CA" i="1">
                        <a:latin typeface="Cambria Math" panose="02040503050406030204" pitchFamily="18" charset="0"/>
                      </a:rPr>
                      <m:t>=</m:t>
                    </m:r>
                    <m:r>
                      <a:rPr lang="en-CA" i="1">
                        <a:latin typeface="Cambria Math" panose="02040503050406030204" pitchFamily="18" charset="0"/>
                      </a:rPr>
                      <m:t>1</m:t>
                    </m:r>
                    <m:r>
                      <a:rPr lang="en-CA" i="1">
                        <a:latin typeface="Cambria Math" panose="02040503050406030204" pitchFamily="18" charset="0"/>
                      </a:rPr>
                      <m:t> ∼</m:t>
                    </m:r>
                    <m:r>
                      <a:rPr lang="en-CA">
                        <a:latin typeface="Cambria Math" panose="02040503050406030204" pitchFamily="18" charset="0"/>
                      </a:rPr>
                      <m:t>𝒩</m:t>
                    </m:r>
                    <m:d>
                      <m:dPr>
                        <m:sepChr m:val=","/>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𝜇</m:t>
                            </m:r>
                          </m:e>
                          <m:sub>
                            <m:r>
                              <a:rPr lang="en-CA" i="1">
                                <a:latin typeface="Cambria Math" panose="02040503050406030204" pitchFamily="18" charset="0"/>
                              </a:rPr>
                              <m:t>1</m:t>
                            </m:r>
                          </m:sub>
                        </m:sSub>
                      </m:e>
                      <m:e>
                        <m:r>
                          <a:rPr lang="en-CA" b="0" i="1" smtClean="0">
                            <a:latin typeface="Cambria Math" panose="02040503050406030204" pitchFamily="18" charset="0"/>
                          </a:rPr>
                          <m:t>1</m:t>
                        </m:r>
                      </m:e>
                    </m:d>
                    <m:r>
                      <a:rPr lang="en-CA" i="1">
                        <a:latin typeface="Cambria Math" panose="02040503050406030204" pitchFamily="18" charset="0"/>
                      </a:rPr>
                      <m:t>, </m:t>
                    </m:r>
                    <m:sSub>
                      <m:sSubPr>
                        <m:ctrlPr>
                          <a:rPr lang="en-CA" i="1">
                            <a:latin typeface="Cambria Math" panose="02040503050406030204" pitchFamily="18" charset="0"/>
                          </a:rPr>
                        </m:ctrlPr>
                      </m:sSubPr>
                      <m:e>
                        <m:r>
                          <a:rPr lang="en-CA" i="1">
                            <a:latin typeface="Cambria Math" panose="02040503050406030204" pitchFamily="18" charset="0"/>
                          </a:rPr>
                          <m:t>𝜇</m:t>
                        </m:r>
                      </m:e>
                      <m:sub>
                        <m:r>
                          <a:rPr lang="en-CA" i="1">
                            <a:latin typeface="Cambria Math" panose="02040503050406030204" pitchFamily="18" charset="0"/>
                          </a:rPr>
                          <m:t>0</m:t>
                        </m:r>
                      </m:sub>
                    </m:sSub>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𝜇</m:t>
                        </m:r>
                      </m:e>
                      <m:sub>
                        <m:r>
                          <a:rPr lang="en-CA" i="1">
                            <a:latin typeface="Cambria Math" panose="02040503050406030204" pitchFamily="18" charset="0"/>
                          </a:rPr>
                          <m:t>1</m:t>
                        </m:r>
                      </m:sub>
                    </m:sSub>
                  </m:oMath>
                </a14:m>
                <a:endParaRPr lang="en-CA" dirty="0"/>
              </a:p>
              <a:p>
                <a:r>
                  <a:rPr lang="en-CA" dirty="0"/>
                  <a:t>Variance-switching environment:</a:t>
                </a:r>
              </a:p>
              <a:p>
                <a:pPr lvl="1"/>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𝑋</m:t>
                        </m:r>
                      </m:e>
                      <m:sub>
                        <m:r>
                          <a:rPr lang="en-CA" i="1">
                            <a:latin typeface="Cambria Math" panose="02040503050406030204" pitchFamily="18" charset="0"/>
                          </a:rPr>
                          <m:t>𝑡</m:t>
                        </m:r>
                      </m:sub>
                    </m:sSub>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𝐶</m:t>
                        </m:r>
                      </m:e>
                      <m:sub>
                        <m:r>
                          <a:rPr lang="en-CA" i="1">
                            <a:latin typeface="Cambria Math" panose="02040503050406030204" pitchFamily="18" charset="0"/>
                          </a:rPr>
                          <m:t>𝑡</m:t>
                        </m:r>
                      </m:sub>
                    </m:sSub>
                    <m:r>
                      <a:rPr lang="en-CA" i="1">
                        <a:latin typeface="Cambria Math" panose="02040503050406030204" pitchFamily="18" charset="0"/>
                      </a:rPr>
                      <m:t>=</m:t>
                    </m:r>
                    <m:r>
                      <a:rPr lang="en-CA" i="1">
                        <a:latin typeface="Cambria Math" panose="02040503050406030204" pitchFamily="18" charset="0"/>
                      </a:rPr>
                      <m:t>0</m:t>
                    </m:r>
                    <m:r>
                      <a:rPr lang="en-CA" i="1">
                        <a:latin typeface="Cambria Math" panose="02040503050406030204" pitchFamily="18" charset="0"/>
                      </a:rPr>
                      <m:t> ∼</m:t>
                    </m:r>
                    <m:r>
                      <a:rPr lang="en-CA">
                        <a:latin typeface="Cambria Math" panose="02040503050406030204" pitchFamily="18" charset="0"/>
                      </a:rPr>
                      <m:t>𝒩</m:t>
                    </m:r>
                    <m:d>
                      <m:dPr>
                        <m:sepChr m:val=","/>
                        <m:ctrlPr>
                          <a:rPr lang="en-CA" i="1">
                            <a:latin typeface="Cambria Math" panose="02040503050406030204" pitchFamily="18" charset="0"/>
                          </a:rPr>
                        </m:ctrlPr>
                      </m:dPr>
                      <m:e>
                        <m:r>
                          <a:rPr lang="en-CA" b="0" i="1" smtClean="0">
                            <a:latin typeface="Cambria Math" panose="02040503050406030204" pitchFamily="18" charset="0"/>
                          </a:rPr>
                          <m:t>0</m:t>
                        </m:r>
                      </m:e>
                      <m:e>
                        <m:sSubSup>
                          <m:sSubSupPr>
                            <m:ctrlPr>
                              <a:rPr lang="en-CA" i="1">
                                <a:latin typeface="Cambria Math" panose="02040503050406030204" pitchFamily="18" charset="0"/>
                              </a:rPr>
                            </m:ctrlPr>
                          </m:sSubSupPr>
                          <m:e>
                            <m:r>
                              <m:rPr>
                                <m:sty m:val="p"/>
                              </m:rPr>
                              <a:rPr lang="en-CA">
                                <a:latin typeface="Cambria Math" panose="02040503050406030204" pitchFamily="18" charset="0"/>
                              </a:rPr>
                              <m:t>σ</m:t>
                            </m:r>
                          </m:e>
                          <m:sub>
                            <m:r>
                              <a:rPr lang="en-CA" i="1">
                                <a:latin typeface="Cambria Math" panose="02040503050406030204" pitchFamily="18" charset="0"/>
                              </a:rPr>
                              <m:t>0</m:t>
                            </m:r>
                          </m:sub>
                          <m:sup>
                            <m:r>
                              <a:rPr lang="en-CA">
                                <a:latin typeface="Cambria Math" panose="02040503050406030204" pitchFamily="18" charset="0"/>
                              </a:rPr>
                              <m:t>2</m:t>
                            </m:r>
                          </m:sup>
                        </m:sSubSup>
                      </m:e>
                    </m:d>
                    <m:r>
                      <a:rPr lang="en-CA" i="1">
                        <a:latin typeface="Cambria Math" panose="02040503050406030204" pitchFamily="18" charset="0"/>
                      </a:rPr>
                      <m:t>, </m:t>
                    </m:r>
                    <m:r>
                      <a:rPr lang="en-CA" b="0" i="1" smtClean="0">
                        <a:latin typeface="Cambria Math" panose="02040503050406030204" pitchFamily="18" charset="0"/>
                      </a:rPr>
                      <m:t>      </m:t>
                    </m:r>
                    <m:sSub>
                      <m:sSubPr>
                        <m:ctrlPr>
                          <a:rPr lang="en-CA" i="1">
                            <a:latin typeface="Cambria Math" panose="02040503050406030204" pitchFamily="18" charset="0"/>
                          </a:rPr>
                        </m:ctrlPr>
                      </m:sSubPr>
                      <m:e>
                        <m:r>
                          <a:rPr lang="en-CA" i="1">
                            <a:latin typeface="Cambria Math" panose="02040503050406030204" pitchFamily="18" charset="0"/>
                          </a:rPr>
                          <m:t>𝑋</m:t>
                        </m:r>
                      </m:e>
                      <m:sub>
                        <m:r>
                          <a:rPr lang="en-CA" i="1">
                            <a:latin typeface="Cambria Math" panose="02040503050406030204" pitchFamily="18" charset="0"/>
                          </a:rPr>
                          <m:t>𝑡</m:t>
                        </m:r>
                      </m:sub>
                    </m:sSub>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𝐶</m:t>
                        </m:r>
                      </m:e>
                      <m:sub>
                        <m:r>
                          <a:rPr lang="en-CA" i="1">
                            <a:latin typeface="Cambria Math" panose="02040503050406030204" pitchFamily="18" charset="0"/>
                          </a:rPr>
                          <m:t>𝑡</m:t>
                        </m:r>
                      </m:sub>
                    </m:sSub>
                    <m:r>
                      <a:rPr lang="en-CA" i="1">
                        <a:latin typeface="Cambria Math" panose="02040503050406030204" pitchFamily="18" charset="0"/>
                      </a:rPr>
                      <m:t>=</m:t>
                    </m:r>
                    <m:r>
                      <a:rPr lang="en-CA" i="1">
                        <a:latin typeface="Cambria Math" panose="02040503050406030204" pitchFamily="18" charset="0"/>
                      </a:rPr>
                      <m:t>1</m:t>
                    </m:r>
                    <m:r>
                      <a:rPr lang="en-CA" i="1">
                        <a:latin typeface="Cambria Math" panose="02040503050406030204" pitchFamily="18" charset="0"/>
                      </a:rPr>
                      <m:t> ∼</m:t>
                    </m:r>
                    <m:r>
                      <a:rPr lang="en-CA">
                        <a:latin typeface="Cambria Math" panose="02040503050406030204" pitchFamily="18" charset="0"/>
                      </a:rPr>
                      <m:t>𝒩</m:t>
                    </m:r>
                    <m:d>
                      <m:dPr>
                        <m:sepChr m:val=","/>
                        <m:ctrlPr>
                          <a:rPr lang="en-CA" i="1">
                            <a:latin typeface="Cambria Math" panose="02040503050406030204" pitchFamily="18" charset="0"/>
                          </a:rPr>
                        </m:ctrlPr>
                      </m:dPr>
                      <m:e>
                        <m:r>
                          <a:rPr lang="en-CA" b="0" i="1" smtClean="0">
                            <a:latin typeface="Cambria Math" panose="02040503050406030204" pitchFamily="18" charset="0"/>
                          </a:rPr>
                          <m:t>0</m:t>
                        </m:r>
                      </m:e>
                      <m:e>
                        <m:sSubSup>
                          <m:sSubSupPr>
                            <m:ctrlPr>
                              <a:rPr lang="en-CA" i="1">
                                <a:latin typeface="Cambria Math" panose="02040503050406030204" pitchFamily="18" charset="0"/>
                              </a:rPr>
                            </m:ctrlPr>
                          </m:sSubSupPr>
                          <m:e>
                            <m:r>
                              <m:rPr>
                                <m:sty m:val="p"/>
                              </m:rPr>
                              <a:rPr lang="en-CA">
                                <a:latin typeface="Cambria Math" panose="02040503050406030204" pitchFamily="18" charset="0"/>
                              </a:rPr>
                              <m:t>σ</m:t>
                            </m:r>
                          </m:e>
                          <m:sub>
                            <m:r>
                              <a:rPr lang="en-CA" i="1">
                                <a:latin typeface="Cambria Math" panose="02040503050406030204" pitchFamily="18" charset="0"/>
                              </a:rPr>
                              <m:t>1</m:t>
                            </m:r>
                          </m:sub>
                          <m:sup>
                            <m:r>
                              <a:rPr lang="en-CA">
                                <a:latin typeface="Cambria Math" panose="02040503050406030204" pitchFamily="18" charset="0"/>
                              </a:rPr>
                              <m:t>2</m:t>
                            </m:r>
                          </m:sup>
                        </m:sSubSup>
                      </m:e>
                    </m:d>
                    <m:r>
                      <a:rPr lang="en-CA" i="1">
                        <a:latin typeface="Cambria Math" panose="02040503050406030204" pitchFamily="18" charset="0"/>
                      </a:rPr>
                      <m:t>, </m:t>
                    </m:r>
                    <m:sSub>
                      <m:sSubPr>
                        <m:ctrlPr>
                          <a:rPr lang="en-CA" i="1">
                            <a:latin typeface="Cambria Math" panose="02040503050406030204" pitchFamily="18" charset="0"/>
                          </a:rPr>
                        </m:ctrlPr>
                      </m:sSubPr>
                      <m:e>
                        <m:r>
                          <a:rPr lang="en-CA" i="1">
                            <a:latin typeface="Cambria Math" panose="02040503050406030204" pitchFamily="18" charset="0"/>
                          </a:rPr>
                          <m:t>𝜎</m:t>
                        </m:r>
                      </m:e>
                      <m:sub>
                        <m:r>
                          <a:rPr lang="en-CA" i="1">
                            <a:latin typeface="Cambria Math" panose="02040503050406030204" pitchFamily="18" charset="0"/>
                          </a:rPr>
                          <m:t>0</m:t>
                        </m:r>
                      </m:sub>
                    </m:sSub>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𝜎</m:t>
                        </m:r>
                      </m:e>
                      <m:sub>
                        <m:r>
                          <a:rPr lang="en-CA" i="1">
                            <a:latin typeface="Cambria Math" panose="02040503050406030204" pitchFamily="18" charset="0"/>
                          </a:rPr>
                          <m:t>1</m:t>
                        </m:r>
                      </m:sub>
                    </m:sSub>
                  </m:oMath>
                </a14:m>
                <a:endParaRPr lang="en-CA" dirty="0"/>
              </a:p>
              <a:p>
                <a:r>
                  <a:rPr lang="en-US" dirty="0"/>
                  <a:t>Responses are generated by a </a:t>
                </a:r>
                <a:r>
                  <a:rPr lang="en-US" b="1" dirty="0"/>
                  <a:t>logistic encoder with Gaussian noise</a:t>
                </a:r>
                <a:r>
                  <a:rPr lang="en-US" dirty="0"/>
                  <a:t>.</a:t>
                </a:r>
              </a:p>
              <a:p>
                <a:r>
                  <a:rPr lang="en-CA" dirty="0"/>
                  <a:t>Stimuli decoded using </a:t>
                </a:r>
                <a:r>
                  <a:rPr lang="en-CA" b="1" dirty="0"/>
                  <a:t>posterior mean</a:t>
                </a:r>
                <a:r>
                  <a:rPr lang="en-CA" dirty="0"/>
                  <a:t>: </a:t>
                </a:r>
                <a14:m>
                  <m:oMath xmlns:m="http://schemas.openxmlformats.org/officeDocument/2006/math">
                    <m:acc>
                      <m:accPr>
                        <m:chr m:val="̂"/>
                        <m:ctrlPr>
                          <a:rPr lang="en-CA" i="1">
                            <a:latin typeface="Cambria Math" panose="02040503050406030204" pitchFamily="18" charset="0"/>
                          </a:rPr>
                        </m:ctrlPr>
                      </m:accPr>
                      <m:e>
                        <m:r>
                          <a:rPr lang="en-CA" i="1">
                            <a:latin typeface="Cambria Math" panose="02040503050406030204" pitchFamily="18" charset="0"/>
                          </a:rPr>
                          <m:t>𝑥</m:t>
                        </m:r>
                      </m:e>
                    </m:acc>
                    <m:d>
                      <m:dPr>
                        <m:ctrlPr>
                          <a:rPr lang="en-CA" i="1">
                            <a:latin typeface="Cambria Math" panose="02040503050406030204" pitchFamily="18" charset="0"/>
                          </a:rPr>
                        </m:ctrlPr>
                      </m:dPr>
                      <m:e>
                        <m:r>
                          <a:rPr lang="en-CA" i="1">
                            <a:latin typeface="Cambria Math" panose="02040503050406030204" pitchFamily="18" charset="0"/>
                          </a:rPr>
                          <m:t>𝑟</m:t>
                        </m:r>
                      </m:e>
                    </m:d>
                    <m:r>
                      <a:rPr lang="en-CA">
                        <a:latin typeface="Cambria Math" panose="02040503050406030204" pitchFamily="18" charset="0"/>
                      </a:rPr>
                      <m:t>=</m:t>
                    </m:r>
                    <m:r>
                      <a:rPr lang="en-CA" i="1">
                        <a:latin typeface="Cambria Math" panose="02040503050406030204" pitchFamily="18" charset="0"/>
                      </a:rPr>
                      <m:t>𝐸</m:t>
                    </m:r>
                    <m:d>
                      <m:dPr>
                        <m:begChr m:val="["/>
                        <m:endChr m:val="]"/>
                        <m:ctrlPr>
                          <a:rPr lang="en-CA" i="1">
                            <a:latin typeface="Cambria Math" panose="02040503050406030204" pitchFamily="18" charset="0"/>
                          </a:rPr>
                        </m:ctrlPr>
                      </m:dPr>
                      <m:e>
                        <m:r>
                          <a:rPr lang="en-CA" i="1">
                            <a:latin typeface="Cambria Math" panose="02040503050406030204" pitchFamily="18" charset="0"/>
                          </a:rPr>
                          <m:t>𝑋</m:t>
                        </m:r>
                        <m:r>
                          <a:rPr lang="en-CA">
                            <a:latin typeface="Cambria Math" panose="02040503050406030204" pitchFamily="18" charset="0"/>
                          </a:rPr>
                          <m:t>∣</m:t>
                        </m:r>
                        <m:r>
                          <a:rPr lang="en-CA" i="1">
                            <a:latin typeface="Cambria Math" panose="02040503050406030204" pitchFamily="18" charset="0"/>
                          </a:rPr>
                          <m:t>𝑅</m:t>
                        </m:r>
                        <m:r>
                          <a:rPr lang="en-CA">
                            <a:latin typeface="Cambria Math" panose="02040503050406030204" pitchFamily="18" charset="0"/>
                          </a:rPr>
                          <m:t>=</m:t>
                        </m:r>
                        <m:r>
                          <a:rPr lang="en-CA" i="1">
                            <a:latin typeface="Cambria Math" panose="02040503050406030204" pitchFamily="18" charset="0"/>
                          </a:rPr>
                          <m:t>𝑟</m:t>
                        </m:r>
                      </m:e>
                    </m:d>
                  </m:oMath>
                </a14:m>
                <a:endParaRPr lang="en-CA" dirty="0"/>
              </a:p>
            </p:txBody>
          </p:sp>
        </mc:Choice>
        <mc:Fallback xmlns="">
          <p:sp>
            <p:nvSpPr>
              <p:cNvPr id="3" name="Content Placeholder 2">
                <a:extLst>
                  <a:ext uri="{FF2B5EF4-FFF2-40B4-BE49-F238E27FC236}">
                    <a16:creationId xmlns:a16="http://schemas.microsoft.com/office/drawing/2014/main" id="{0EC58C48-4A42-082B-84E8-B387245BD259}"/>
                  </a:ext>
                </a:extLst>
              </p:cNvPr>
              <p:cNvSpPr>
                <a:spLocks noGrp="1" noRot="1" noChangeAspect="1" noMove="1" noResize="1" noEditPoints="1" noAdjustHandles="1" noChangeArrowheads="1" noChangeShapeType="1" noTextEdit="1"/>
              </p:cNvSpPr>
              <p:nvPr>
                <p:ph idx="1"/>
              </p:nvPr>
            </p:nvSpPr>
            <p:spPr>
              <a:blipFill>
                <a:blip r:embed="rId3"/>
                <a:stretch>
                  <a:fillRect l="-1043" t="-3081" b="-1821"/>
                </a:stretch>
              </a:blipFill>
            </p:spPr>
            <p:txBody>
              <a:bodyPr/>
              <a:lstStyle/>
              <a:p>
                <a:r>
                  <a:rPr lang="en-CA">
                    <a:noFill/>
                  </a:rPr>
                  <a:t> </a:t>
                </a:r>
              </a:p>
            </p:txBody>
          </p:sp>
        </mc:Fallback>
      </mc:AlternateContent>
    </p:spTree>
    <p:extLst>
      <p:ext uri="{BB962C8B-B14F-4D97-AF65-F5344CB8AC3E}">
        <p14:creationId xmlns:p14="http://schemas.microsoft.com/office/powerpoint/2010/main" val="1924781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EA3EF-5972-6201-36E9-C0B565C7E9A4}"/>
              </a:ext>
            </a:extLst>
          </p:cNvPr>
          <p:cNvSpPr>
            <a:spLocks noGrp="1"/>
          </p:cNvSpPr>
          <p:nvPr>
            <p:ph type="title"/>
          </p:nvPr>
        </p:nvSpPr>
        <p:spPr/>
        <p:txBody>
          <a:bodyPr/>
          <a:lstStyle/>
          <a:p>
            <a:r>
              <a:rPr lang="en-US" dirty="0"/>
              <a:t>Switching Constraints and Mismatch-Based Metrics</a:t>
            </a:r>
            <a:endParaRPr lang="en-CA"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76C926B-4C02-8D0E-EA87-B74721988E66}"/>
                  </a:ext>
                </a:extLst>
              </p:cNvPr>
              <p:cNvSpPr>
                <a:spLocks noGrp="1"/>
              </p:cNvSpPr>
              <p:nvPr>
                <p:ph idx="1"/>
              </p:nvPr>
            </p:nvSpPr>
            <p:spPr/>
            <p:txBody>
              <a:bodyPr>
                <a:normAutofit fontScale="92500" lnSpcReduction="20000"/>
              </a:bodyPr>
              <a:lstStyle/>
              <a:p>
                <a:r>
                  <a:rPr lang="en-CA" dirty="0"/>
                  <a:t>Switching rules:</a:t>
                </a:r>
              </a:p>
              <a:p>
                <a:pPr lvl="1"/>
                <a:r>
                  <a:rPr lang="en-US" b="1" dirty="0"/>
                  <a:t>Instant</a:t>
                </a:r>
                <a:r>
                  <a:rPr lang="en-US" dirty="0"/>
                  <a:t> switching → switch </a:t>
                </a:r>
                <a:r>
                  <a:rPr lang="en-US" b="1" dirty="0"/>
                  <a:t>immediately</a:t>
                </a:r>
                <a:r>
                  <a:rPr lang="en-US" dirty="0"/>
                  <a:t> with inferred context.</a:t>
                </a:r>
              </a:p>
              <a:p>
                <a:pPr lvl="1"/>
                <a:r>
                  <a:rPr lang="en-US" b="1" dirty="0"/>
                  <a:t>Hysteresis</a:t>
                </a:r>
                <a:r>
                  <a:rPr lang="en-US" dirty="0"/>
                  <a:t> → switch only with </a:t>
                </a:r>
                <a:r>
                  <a:rPr lang="en-US" b="1" dirty="0"/>
                  <a:t>strong evidence</a:t>
                </a:r>
                <a:r>
                  <a:rPr lang="en-US" dirty="0"/>
                  <a:t>.</a:t>
                </a:r>
              </a:p>
              <a:p>
                <a:pPr lvl="1"/>
                <a:r>
                  <a:rPr lang="en-US" b="1" dirty="0"/>
                  <a:t>Refractory</a:t>
                </a:r>
                <a:r>
                  <a:rPr lang="en-US" dirty="0"/>
                  <a:t> lockout → switching </a:t>
                </a:r>
                <a:r>
                  <a:rPr lang="en-US" b="1" dirty="0"/>
                  <a:t>temporarily locked </a:t>
                </a:r>
                <a:r>
                  <a:rPr lang="en-US" dirty="0"/>
                  <a:t>after change.</a:t>
                </a:r>
              </a:p>
              <a:p>
                <a:r>
                  <a:rPr lang="en-US" dirty="0"/>
                  <a:t>Metrics:</a:t>
                </a:r>
              </a:p>
              <a:p>
                <a:pPr lvl="1"/>
                <a:r>
                  <a:rPr lang="en-CA" dirty="0"/>
                  <a:t>Global performance</a:t>
                </a:r>
              </a:p>
              <a:p>
                <a:pPr lvl="2"/>
                <a:r>
                  <a:rPr lang="en-CA" b="1" dirty="0"/>
                  <a:t>Global MSE</a:t>
                </a:r>
                <a:r>
                  <a:rPr lang="en-CA" dirty="0"/>
                  <a:t>: </a:t>
                </a:r>
                <a14:m>
                  <m:oMath xmlns:m="http://schemas.openxmlformats.org/officeDocument/2006/math">
                    <m:sSubSup>
                      <m:sSubSupPr>
                        <m:ctrlPr>
                          <a:rPr lang="de-DE" i="1" dirty="0" smtClean="0">
                            <a:latin typeface="Cambria Math" panose="02040503050406030204" pitchFamily="18" charset="0"/>
                          </a:rPr>
                        </m:ctrlPr>
                      </m:sSubSupPr>
                      <m:e>
                        <m:f>
                          <m:fPr>
                            <m:ctrlPr>
                              <a:rPr lang="de-DE" i="1" dirty="0" smtClean="0">
                                <a:latin typeface="Cambria Math" panose="02040503050406030204" pitchFamily="18" charset="0"/>
                              </a:rPr>
                            </m:ctrlPr>
                          </m:fPr>
                          <m:num>
                            <m:r>
                              <a:rPr lang="de-DE" i="1" dirty="0" smtClean="0">
                                <a:latin typeface="Cambria Math" panose="02040503050406030204" pitchFamily="18" charset="0"/>
                              </a:rPr>
                              <m:t>1</m:t>
                            </m:r>
                          </m:num>
                          <m:den>
                            <m:r>
                              <a:rPr lang="de-DE" i="1" dirty="0" smtClean="0">
                                <a:latin typeface="Cambria Math" panose="02040503050406030204" pitchFamily="18" charset="0"/>
                              </a:rPr>
                              <m:t>𝑇</m:t>
                            </m:r>
                          </m:den>
                        </m:f>
                        <m:r>
                          <a:rPr lang="de-DE" i="1" dirty="0" smtClean="0">
                            <a:latin typeface="Cambria Math" panose="02040503050406030204" pitchFamily="18" charset="0"/>
                          </a:rPr>
                          <m:t>∑</m:t>
                        </m:r>
                      </m:e>
                      <m:sub>
                        <m:r>
                          <a:rPr lang="de-DE" i="1" dirty="0" smtClean="0">
                            <a:latin typeface="Cambria Math" panose="02040503050406030204" pitchFamily="18" charset="0"/>
                          </a:rPr>
                          <m:t>𝑡</m:t>
                        </m:r>
                        <m:r>
                          <a:rPr lang="de-DE" i="1" dirty="0" smtClean="0">
                            <a:latin typeface="Cambria Math" panose="02040503050406030204" pitchFamily="18" charset="0"/>
                          </a:rPr>
                          <m:t>=1</m:t>
                        </m:r>
                      </m:sub>
                      <m:sup>
                        <m:r>
                          <a:rPr lang="de-DE" i="1" dirty="0" smtClean="0">
                            <a:latin typeface="Cambria Math" panose="02040503050406030204" pitchFamily="18" charset="0"/>
                          </a:rPr>
                          <m:t>𝑇</m:t>
                        </m:r>
                      </m:sup>
                    </m:sSubSup>
                    <m:sSup>
                      <m:sSupPr>
                        <m:ctrlPr>
                          <a:rPr lang="de-DE" i="1" dirty="0" smtClean="0">
                            <a:latin typeface="Cambria Math" panose="02040503050406030204" pitchFamily="18" charset="0"/>
                          </a:rPr>
                        </m:ctrlPr>
                      </m:sSupPr>
                      <m:e>
                        <m:d>
                          <m:dPr>
                            <m:ctrlPr>
                              <a:rPr lang="de-DE" i="1" dirty="0" smtClean="0">
                                <a:latin typeface="Cambria Math" panose="02040503050406030204" pitchFamily="18" charset="0"/>
                              </a:rPr>
                            </m:ctrlPr>
                          </m:dPr>
                          <m:e>
                            <m:sSub>
                              <m:sSubPr>
                                <m:ctrlPr>
                                  <a:rPr lang="de-DE" i="1" dirty="0" smtClean="0">
                                    <a:latin typeface="Cambria Math" panose="02040503050406030204" pitchFamily="18" charset="0"/>
                                  </a:rPr>
                                </m:ctrlPr>
                              </m:sSubPr>
                              <m:e>
                                <m:r>
                                  <a:rPr lang="de-DE" i="1" dirty="0" smtClean="0">
                                    <a:latin typeface="Cambria Math" panose="02040503050406030204" pitchFamily="18" charset="0"/>
                                  </a:rPr>
                                  <m:t>𝑥</m:t>
                                </m:r>
                              </m:e>
                              <m:sub>
                                <m:r>
                                  <a:rPr lang="de-DE" i="1" dirty="0" smtClean="0">
                                    <a:latin typeface="Cambria Math" panose="02040503050406030204" pitchFamily="18" charset="0"/>
                                  </a:rPr>
                                  <m:t>𝑡</m:t>
                                </m:r>
                              </m:sub>
                            </m:sSub>
                            <m:r>
                              <a:rPr lang="de-DE" i="1" dirty="0" smtClean="0">
                                <a:latin typeface="Cambria Math" panose="02040503050406030204" pitchFamily="18" charset="0"/>
                              </a:rPr>
                              <m:t>−</m:t>
                            </m:r>
                            <m:acc>
                              <m:accPr>
                                <m:chr m:val="̂"/>
                                <m:ctrlPr>
                                  <a:rPr lang="en-CA" b="0" i="1" dirty="0" smtClean="0">
                                    <a:latin typeface="Cambria Math" panose="02040503050406030204" pitchFamily="18" charset="0"/>
                                  </a:rPr>
                                </m:ctrlPr>
                              </m:accPr>
                              <m:e>
                                <m:sSub>
                                  <m:sSubPr>
                                    <m:ctrlPr>
                                      <a:rPr lang="en-CA" b="0" i="1" dirty="0" smtClean="0">
                                        <a:latin typeface="Cambria Math" panose="02040503050406030204" pitchFamily="18" charset="0"/>
                                      </a:rPr>
                                    </m:ctrlPr>
                                  </m:sSubPr>
                                  <m:e>
                                    <m:r>
                                      <a:rPr lang="en-CA" b="0" i="1" dirty="0" smtClean="0">
                                        <a:latin typeface="Cambria Math" panose="02040503050406030204" pitchFamily="18" charset="0"/>
                                      </a:rPr>
                                      <m:t>𝑥</m:t>
                                    </m:r>
                                  </m:e>
                                  <m:sub>
                                    <m:r>
                                      <a:rPr lang="en-CA" b="0" i="1" dirty="0" smtClean="0">
                                        <a:latin typeface="Cambria Math" panose="02040503050406030204" pitchFamily="18" charset="0"/>
                                      </a:rPr>
                                      <m:t>𝑡</m:t>
                                    </m:r>
                                  </m:sub>
                                </m:sSub>
                              </m:e>
                            </m:acc>
                          </m:e>
                        </m:d>
                      </m:e>
                      <m:sup>
                        <m:r>
                          <a:rPr lang="de-DE" i="1" dirty="0" smtClean="0">
                            <a:latin typeface="Cambria Math" panose="02040503050406030204" pitchFamily="18" charset="0"/>
                          </a:rPr>
                          <m:t>2</m:t>
                        </m:r>
                      </m:sup>
                    </m:sSup>
                  </m:oMath>
                </a14:m>
                <a:endParaRPr lang="en-CA" dirty="0"/>
              </a:p>
              <a:p>
                <a:pPr lvl="1"/>
                <a:r>
                  <a:rPr lang="en-CA" dirty="0"/>
                  <a:t>Mismatch dynamics</a:t>
                </a:r>
              </a:p>
              <a:p>
                <a:pPr lvl="2"/>
                <a:r>
                  <a:rPr lang="en-CA" b="1" dirty="0"/>
                  <a:t>Context misclassification rate</a:t>
                </a:r>
                <a:r>
                  <a:rPr lang="en-CA" dirty="0"/>
                  <a:t>: </a:t>
                </a:r>
                <a14:m>
                  <m:oMath xmlns:m="http://schemas.openxmlformats.org/officeDocument/2006/math">
                    <m:sSubSup>
                      <m:sSubSupPr>
                        <m:ctrlPr>
                          <a:rPr lang="de-DE" i="1" dirty="0" smtClean="0">
                            <a:latin typeface="Cambria Math" panose="02040503050406030204" pitchFamily="18" charset="0"/>
                          </a:rPr>
                        </m:ctrlPr>
                      </m:sSubSupPr>
                      <m:e>
                        <m:f>
                          <m:fPr>
                            <m:ctrlPr>
                              <a:rPr lang="de-DE" i="1" dirty="0" smtClean="0">
                                <a:latin typeface="Cambria Math" panose="02040503050406030204" pitchFamily="18" charset="0"/>
                              </a:rPr>
                            </m:ctrlPr>
                          </m:fPr>
                          <m:num>
                            <m:r>
                              <a:rPr lang="de-DE" i="1" dirty="0" smtClean="0">
                                <a:latin typeface="Cambria Math" panose="02040503050406030204" pitchFamily="18" charset="0"/>
                              </a:rPr>
                              <m:t>1</m:t>
                            </m:r>
                          </m:num>
                          <m:den>
                            <m:r>
                              <a:rPr lang="de-DE" i="1" dirty="0" smtClean="0">
                                <a:latin typeface="Cambria Math" panose="02040503050406030204" pitchFamily="18" charset="0"/>
                              </a:rPr>
                              <m:t>𝑇</m:t>
                            </m:r>
                          </m:den>
                        </m:f>
                        <m:r>
                          <a:rPr lang="de-DE" i="1" dirty="0" smtClean="0">
                            <a:latin typeface="Cambria Math" panose="02040503050406030204" pitchFamily="18" charset="0"/>
                          </a:rPr>
                          <m:t>∑</m:t>
                        </m:r>
                      </m:e>
                      <m:sub>
                        <m:r>
                          <a:rPr lang="de-DE" i="1" dirty="0" smtClean="0">
                            <a:latin typeface="Cambria Math" panose="02040503050406030204" pitchFamily="18" charset="0"/>
                          </a:rPr>
                          <m:t>𝑡</m:t>
                        </m:r>
                        <m:r>
                          <a:rPr lang="de-DE" i="1" dirty="0" smtClean="0">
                            <a:latin typeface="Cambria Math" panose="02040503050406030204" pitchFamily="18" charset="0"/>
                          </a:rPr>
                          <m:t>=1</m:t>
                        </m:r>
                      </m:sub>
                      <m:sup>
                        <m:r>
                          <a:rPr lang="de-DE" i="1" dirty="0" smtClean="0">
                            <a:latin typeface="Cambria Math" panose="02040503050406030204" pitchFamily="18" charset="0"/>
                          </a:rPr>
                          <m:t>𝑇</m:t>
                        </m:r>
                      </m:sup>
                    </m:sSubSup>
                    <m:d>
                      <m:dPr>
                        <m:ctrlPr>
                          <a:rPr lang="de-DE" i="1" dirty="0" smtClean="0">
                            <a:latin typeface="Cambria Math" panose="02040503050406030204" pitchFamily="18" charset="0"/>
                          </a:rPr>
                        </m:ctrlPr>
                      </m:dPr>
                      <m:e>
                        <m:sSub>
                          <m:sSubPr>
                            <m:ctrlPr>
                              <a:rPr lang="de-DE" i="1" dirty="0" smtClean="0">
                                <a:latin typeface="Cambria Math" panose="02040503050406030204" pitchFamily="18" charset="0"/>
                              </a:rPr>
                            </m:ctrlPr>
                          </m:sSubPr>
                          <m:e>
                            <m:r>
                              <a:rPr lang="de-DE" i="1" dirty="0" smtClean="0">
                                <a:latin typeface="Cambria Math" panose="02040503050406030204" pitchFamily="18" charset="0"/>
                              </a:rPr>
                              <m:t>𝑐</m:t>
                            </m:r>
                          </m:e>
                          <m:sub>
                            <m:r>
                              <a:rPr lang="de-DE" i="1" dirty="0" smtClean="0">
                                <a:latin typeface="Cambria Math" panose="02040503050406030204" pitchFamily="18" charset="0"/>
                              </a:rPr>
                              <m:t>𝑡</m:t>
                            </m:r>
                          </m:sub>
                        </m:sSub>
                        <m:r>
                          <a:rPr lang="en-CA" b="0" i="1" dirty="0" smtClean="0">
                            <a:latin typeface="Cambria Math" panose="02040503050406030204" pitchFamily="18" charset="0"/>
                          </a:rPr>
                          <m:t>≠</m:t>
                        </m:r>
                        <m:acc>
                          <m:accPr>
                            <m:chr m:val="̂"/>
                            <m:ctrlPr>
                              <a:rPr lang="en-CA" b="0" i="1" dirty="0" smtClean="0">
                                <a:latin typeface="Cambria Math" panose="02040503050406030204" pitchFamily="18" charset="0"/>
                              </a:rPr>
                            </m:ctrlPr>
                          </m:accPr>
                          <m:e>
                            <m:sSub>
                              <m:sSubPr>
                                <m:ctrlPr>
                                  <a:rPr lang="en-CA" b="0" i="1" dirty="0" smtClean="0">
                                    <a:latin typeface="Cambria Math" panose="02040503050406030204" pitchFamily="18" charset="0"/>
                                  </a:rPr>
                                </m:ctrlPr>
                              </m:sSubPr>
                              <m:e>
                                <m:r>
                                  <a:rPr lang="en-CA" b="0" i="1" dirty="0" smtClean="0">
                                    <a:latin typeface="Cambria Math" panose="02040503050406030204" pitchFamily="18" charset="0"/>
                                  </a:rPr>
                                  <m:t>𝑐</m:t>
                                </m:r>
                              </m:e>
                              <m:sub>
                                <m:r>
                                  <a:rPr lang="en-CA" b="0" i="1" dirty="0" smtClean="0">
                                    <a:latin typeface="Cambria Math" panose="02040503050406030204" pitchFamily="18" charset="0"/>
                                  </a:rPr>
                                  <m:t>𝑡</m:t>
                                </m:r>
                              </m:sub>
                            </m:sSub>
                          </m:e>
                        </m:acc>
                      </m:e>
                    </m:d>
                  </m:oMath>
                </a14:m>
                <a:endParaRPr lang="en-CA" dirty="0"/>
              </a:p>
              <a:p>
                <a:pPr lvl="2"/>
                <a:r>
                  <a:rPr lang="en-CA" b="1" dirty="0"/>
                  <a:t>Mean mismatch duration</a:t>
                </a:r>
                <a:r>
                  <a:rPr lang="en-CA" dirty="0"/>
                  <a:t>: </a:t>
                </a:r>
                <a14:m>
                  <m:oMath xmlns:m="http://schemas.openxmlformats.org/officeDocument/2006/math">
                    <m:f>
                      <m:fPr>
                        <m:ctrlPr>
                          <a:rPr lang="en-CA" i="1" dirty="0" smtClean="0">
                            <a:latin typeface="Cambria Math" panose="02040503050406030204" pitchFamily="18" charset="0"/>
                          </a:rPr>
                        </m:ctrlPr>
                      </m:fPr>
                      <m:num>
                        <m:r>
                          <a:rPr lang="en-CA" i="1" dirty="0" smtClean="0">
                            <a:latin typeface="Cambria Math" panose="02040503050406030204" pitchFamily="18" charset="0"/>
                          </a:rPr>
                          <m:t>1</m:t>
                        </m:r>
                      </m:num>
                      <m:den>
                        <m:sSub>
                          <m:sSubPr>
                            <m:ctrlPr>
                              <a:rPr lang="en-CA" i="1" dirty="0" err="1" smtClean="0">
                                <a:latin typeface="Cambria Math" panose="02040503050406030204" pitchFamily="18" charset="0"/>
                              </a:rPr>
                            </m:ctrlPr>
                          </m:sSubPr>
                          <m:e>
                            <m:r>
                              <a:rPr lang="en-CA" i="1" dirty="0" err="1">
                                <a:latin typeface="Cambria Math" panose="02040503050406030204" pitchFamily="18" charset="0"/>
                              </a:rPr>
                              <m:t>𝑁</m:t>
                            </m:r>
                          </m:e>
                          <m:sub>
                            <m:r>
                              <a:rPr lang="en-CA" i="1" dirty="0" err="1">
                                <a:latin typeface="Cambria Math" panose="02040503050406030204" pitchFamily="18" charset="0"/>
                              </a:rPr>
                              <m:t>𝑚𝑖𝑠𝑚𝑎𝑡𝑐h</m:t>
                            </m:r>
                          </m:sub>
                        </m:sSub>
                      </m:den>
                    </m:f>
                    <m:r>
                      <a:rPr lang="en-CA" i="1" dirty="0">
                        <a:latin typeface="Cambria Math" panose="02040503050406030204" pitchFamily="18" charset="0"/>
                      </a:rPr>
                      <m:t> </m:t>
                    </m:r>
                    <m:nary>
                      <m:naryPr>
                        <m:chr m:val="∑"/>
                        <m:ctrlPr>
                          <a:rPr lang="en-CA" i="1" dirty="0" smtClean="0">
                            <a:latin typeface="Cambria Math" panose="02040503050406030204" pitchFamily="18" charset="0"/>
                          </a:rPr>
                        </m:ctrlPr>
                      </m:naryPr>
                      <m:sub>
                        <m:r>
                          <a:rPr lang="en-CA" i="1" dirty="0" err="1">
                            <a:latin typeface="Cambria Math" panose="02040503050406030204" pitchFamily="18" charset="0"/>
                          </a:rPr>
                          <m:t>𝑖</m:t>
                        </m:r>
                        <m:r>
                          <a:rPr lang="en-CA" i="1" dirty="0">
                            <a:latin typeface="Cambria Math" panose="02040503050406030204" pitchFamily="18" charset="0"/>
                          </a:rPr>
                          <m:t>=1</m:t>
                        </m:r>
                      </m:sub>
                      <m:sup>
                        <m:sSub>
                          <m:sSubPr>
                            <m:ctrlPr>
                              <a:rPr lang="en-CA" i="1" dirty="0">
                                <a:latin typeface="Cambria Math" panose="02040503050406030204" pitchFamily="18" charset="0"/>
                              </a:rPr>
                            </m:ctrlPr>
                          </m:sSubPr>
                          <m:e>
                            <m:r>
                              <a:rPr lang="en-CA" i="1" dirty="0" err="1">
                                <a:latin typeface="Cambria Math" panose="02040503050406030204" pitchFamily="18" charset="0"/>
                              </a:rPr>
                              <m:t>𝑁</m:t>
                            </m:r>
                          </m:e>
                          <m:sub>
                            <m:r>
                              <a:rPr lang="en-CA" i="1" dirty="0" err="1">
                                <a:latin typeface="Cambria Math" panose="02040503050406030204" pitchFamily="18" charset="0"/>
                              </a:rPr>
                              <m:t>𝑚𝑖𝑠𝑚𝑎𝑡𝑐h</m:t>
                            </m:r>
                          </m:sub>
                        </m:sSub>
                      </m:sup>
                      <m:e>
                        <m:sSub>
                          <m:sSubPr>
                            <m:ctrlPr>
                              <a:rPr lang="en-CA" i="1" dirty="0">
                                <a:latin typeface="Cambria Math" panose="02040503050406030204" pitchFamily="18" charset="0"/>
                              </a:rPr>
                            </m:ctrlPr>
                          </m:sSubPr>
                          <m:e>
                            <m:r>
                              <a:rPr lang="en-CA" i="1" dirty="0">
                                <a:latin typeface="Cambria Math" panose="02040503050406030204" pitchFamily="18" charset="0"/>
                              </a:rPr>
                              <m:t>𝑑</m:t>
                            </m:r>
                          </m:e>
                          <m:sub>
                            <m:r>
                              <a:rPr lang="en-CA" i="1" dirty="0">
                                <a:latin typeface="Cambria Math" panose="02040503050406030204" pitchFamily="18" charset="0"/>
                              </a:rPr>
                              <m:t>𝑖</m:t>
                            </m:r>
                          </m:sub>
                        </m:sSub>
                      </m:e>
                    </m:nary>
                  </m:oMath>
                </a14:m>
                <a:endParaRPr lang="en-CA" dirty="0"/>
              </a:p>
              <a:p>
                <a:pPr lvl="1"/>
                <a:r>
                  <a:rPr lang="en-CA" dirty="0"/>
                  <a:t>Mismatch cost</a:t>
                </a:r>
              </a:p>
              <a:p>
                <a:pPr lvl="2"/>
                <a:r>
                  <a:rPr lang="en-CA" b="1" dirty="0"/>
                  <a:t>Mismatched MSE</a:t>
                </a:r>
                <a:r>
                  <a:rPr lang="en-CA" dirty="0"/>
                  <a:t>: </a:t>
                </a:r>
                <a14:m>
                  <m:oMath xmlns:m="http://schemas.openxmlformats.org/officeDocument/2006/math">
                    <m:f>
                      <m:fPr>
                        <m:ctrlPr>
                          <a:rPr lang="de-DE" i="1" dirty="0" smtClean="0">
                            <a:latin typeface="Cambria Math" panose="02040503050406030204" pitchFamily="18" charset="0"/>
                          </a:rPr>
                        </m:ctrlPr>
                      </m:fPr>
                      <m:num>
                        <m:r>
                          <a:rPr lang="de-DE" i="1" dirty="0" smtClean="0">
                            <a:latin typeface="Cambria Math" panose="02040503050406030204" pitchFamily="18" charset="0"/>
                          </a:rPr>
                          <m:t>1</m:t>
                        </m:r>
                      </m:num>
                      <m:den>
                        <m:sSub>
                          <m:sSubPr>
                            <m:ctrlPr>
                              <a:rPr lang="de-DE" i="1" dirty="0" smtClean="0">
                                <a:latin typeface="Cambria Math" panose="02040503050406030204" pitchFamily="18" charset="0"/>
                              </a:rPr>
                            </m:ctrlPr>
                          </m:sSubPr>
                          <m:e>
                            <m:r>
                              <a:rPr lang="de-DE" i="1" dirty="0" smtClean="0">
                                <a:latin typeface="Cambria Math" panose="02040503050406030204" pitchFamily="18" charset="0"/>
                              </a:rPr>
                              <m:t>𝑁</m:t>
                            </m:r>
                          </m:e>
                          <m:sub>
                            <m:r>
                              <a:rPr lang="de-DE" i="1" dirty="0" smtClean="0">
                                <a:latin typeface="Cambria Math" panose="02040503050406030204" pitchFamily="18" charset="0"/>
                              </a:rPr>
                              <m:t>𝑚𝑖𝑠𝑚𝑎𝑡𝑐h</m:t>
                            </m:r>
                          </m:sub>
                        </m:sSub>
                      </m:den>
                    </m:f>
                    <m:r>
                      <a:rPr lang="de-DE" i="1" dirty="0" smtClean="0">
                        <a:latin typeface="Cambria Math" panose="02040503050406030204" pitchFamily="18" charset="0"/>
                      </a:rPr>
                      <m:t> </m:t>
                    </m:r>
                    <m:nary>
                      <m:naryPr>
                        <m:chr m:val="∑"/>
                        <m:supHide m:val="on"/>
                        <m:ctrlPr>
                          <a:rPr lang="de-DE" i="1" dirty="0" smtClean="0">
                            <a:latin typeface="Cambria Math" panose="02040503050406030204" pitchFamily="18" charset="0"/>
                          </a:rPr>
                        </m:ctrlPr>
                      </m:naryPr>
                      <m:sub>
                        <m:r>
                          <a:rPr lang="de-DE" i="1" dirty="0">
                            <a:latin typeface="Cambria Math" panose="02040503050406030204" pitchFamily="18" charset="0"/>
                          </a:rPr>
                          <m:t>𝑡</m:t>
                        </m:r>
                        <m:r>
                          <a:rPr lang="de-DE" i="1" dirty="0">
                            <a:latin typeface="Cambria Math" panose="02040503050406030204" pitchFamily="18" charset="0"/>
                          </a:rPr>
                          <m:t>: </m:t>
                        </m:r>
                        <m:sSub>
                          <m:sSubPr>
                            <m:ctrlPr>
                              <a:rPr lang="de-DE" i="1" dirty="0">
                                <a:latin typeface="Cambria Math" panose="02040503050406030204" pitchFamily="18" charset="0"/>
                              </a:rPr>
                            </m:ctrlPr>
                          </m:sSubPr>
                          <m:e>
                            <m:r>
                              <a:rPr lang="de-DE" i="1" dirty="0">
                                <a:latin typeface="Cambria Math" panose="02040503050406030204" pitchFamily="18" charset="0"/>
                              </a:rPr>
                              <m:t>𝑐</m:t>
                            </m:r>
                          </m:e>
                          <m:sub>
                            <m:r>
                              <a:rPr lang="de-DE" i="1" dirty="0">
                                <a:latin typeface="Cambria Math" panose="02040503050406030204" pitchFamily="18" charset="0"/>
                              </a:rPr>
                              <m:t>𝑡</m:t>
                            </m:r>
                          </m:sub>
                        </m:sSub>
                        <m:r>
                          <a:rPr lang="en-CA" b="0" i="1" dirty="0" smtClean="0">
                            <a:latin typeface="Cambria Math" panose="02040503050406030204" pitchFamily="18" charset="0"/>
                          </a:rPr>
                          <m:t>≠</m:t>
                        </m:r>
                        <m:acc>
                          <m:accPr>
                            <m:chr m:val="̂"/>
                            <m:ctrlPr>
                              <a:rPr lang="de-DE" i="1" dirty="0" smtClean="0">
                                <a:latin typeface="Cambria Math" panose="02040503050406030204" pitchFamily="18" charset="0"/>
                              </a:rPr>
                            </m:ctrlPr>
                          </m:accPr>
                          <m:e>
                            <m:sSub>
                              <m:sSubPr>
                                <m:ctrlPr>
                                  <a:rPr lang="en-CA" b="0" i="1" dirty="0" smtClean="0">
                                    <a:latin typeface="Cambria Math" panose="02040503050406030204" pitchFamily="18" charset="0"/>
                                  </a:rPr>
                                </m:ctrlPr>
                              </m:sSubPr>
                              <m:e>
                                <m:r>
                                  <a:rPr lang="en-CA" b="0" i="1" dirty="0" smtClean="0">
                                    <a:latin typeface="Cambria Math" panose="02040503050406030204" pitchFamily="18" charset="0"/>
                                  </a:rPr>
                                  <m:t>𝑐</m:t>
                                </m:r>
                              </m:e>
                              <m:sub>
                                <m:r>
                                  <a:rPr lang="en-CA" b="0" i="1" dirty="0" smtClean="0">
                                    <a:latin typeface="Cambria Math" panose="02040503050406030204" pitchFamily="18" charset="0"/>
                                  </a:rPr>
                                  <m:t>𝑡</m:t>
                                </m:r>
                              </m:sub>
                            </m:sSub>
                          </m:e>
                        </m:acc>
                      </m:sub>
                      <m:sup/>
                      <m:e>
                        <m:sSup>
                          <m:sSupPr>
                            <m:ctrlPr>
                              <a:rPr lang="en-CA" b="0" i="1" dirty="0" smtClean="0">
                                <a:latin typeface="Cambria Math" panose="02040503050406030204" pitchFamily="18" charset="0"/>
                              </a:rPr>
                            </m:ctrlPr>
                          </m:sSupPr>
                          <m:e>
                            <m:d>
                              <m:dPr>
                                <m:ctrlPr>
                                  <a:rPr lang="de-DE" i="1" dirty="0">
                                    <a:latin typeface="Cambria Math" panose="02040503050406030204" pitchFamily="18" charset="0"/>
                                  </a:rPr>
                                </m:ctrlPr>
                              </m:dPr>
                              <m:e>
                                <m:sSub>
                                  <m:sSubPr>
                                    <m:ctrlPr>
                                      <a:rPr lang="de-DE" i="1" dirty="0">
                                        <a:latin typeface="Cambria Math" panose="02040503050406030204" pitchFamily="18" charset="0"/>
                                      </a:rPr>
                                    </m:ctrlPr>
                                  </m:sSubPr>
                                  <m:e>
                                    <m:r>
                                      <a:rPr lang="de-DE" i="1" dirty="0">
                                        <a:latin typeface="Cambria Math" panose="02040503050406030204" pitchFamily="18" charset="0"/>
                                      </a:rPr>
                                      <m:t>𝑥</m:t>
                                    </m:r>
                                  </m:e>
                                  <m:sub>
                                    <m:r>
                                      <a:rPr lang="de-DE" i="1" dirty="0">
                                        <a:latin typeface="Cambria Math" panose="02040503050406030204" pitchFamily="18" charset="0"/>
                                      </a:rPr>
                                      <m:t>𝑡</m:t>
                                    </m:r>
                                  </m:sub>
                                </m:sSub>
                                <m:r>
                                  <a:rPr lang="de-DE" i="1" dirty="0">
                                    <a:latin typeface="Cambria Math" panose="02040503050406030204" pitchFamily="18" charset="0"/>
                                  </a:rPr>
                                  <m:t>−</m:t>
                                </m:r>
                                <m:acc>
                                  <m:accPr>
                                    <m:chr m:val="̂"/>
                                    <m:ctrlPr>
                                      <a:rPr lang="de-DE" i="1" dirty="0" smtClean="0">
                                        <a:latin typeface="Cambria Math" panose="02040503050406030204" pitchFamily="18" charset="0"/>
                                      </a:rPr>
                                    </m:ctrlPr>
                                  </m:accPr>
                                  <m:e>
                                    <m:sSub>
                                      <m:sSubPr>
                                        <m:ctrlPr>
                                          <a:rPr lang="de-DE" i="1" dirty="0">
                                            <a:latin typeface="Cambria Math" panose="02040503050406030204" pitchFamily="18" charset="0"/>
                                          </a:rPr>
                                        </m:ctrlPr>
                                      </m:sSubPr>
                                      <m:e>
                                        <m:r>
                                          <a:rPr lang="de-DE" i="1" dirty="0">
                                            <a:latin typeface="Cambria Math" panose="02040503050406030204" pitchFamily="18" charset="0"/>
                                          </a:rPr>
                                          <m:t>𝑥</m:t>
                                        </m:r>
                                      </m:e>
                                      <m:sub>
                                        <m:r>
                                          <a:rPr lang="de-DE" i="1" dirty="0">
                                            <a:latin typeface="Cambria Math" panose="02040503050406030204" pitchFamily="18" charset="0"/>
                                          </a:rPr>
                                          <m:t>𝑡</m:t>
                                        </m:r>
                                      </m:sub>
                                    </m:sSub>
                                  </m:e>
                                </m:acc>
                              </m:e>
                            </m:d>
                          </m:e>
                          <m:sup>
                            <m:r>
                              <a:rPr lang="en-CA" b="0" i="1" dirty="0" smtClean="0">
                                <a:latin typeface="Cambria Math" panose="02040503050406030204" pitchFamily="18" charset="0"/>
                              </a:rPr>
                              <m:t>2</m:t>
                            </m:r>
                          </m:sup>
                        </m:sSup>
                      </m:e>
                    </m:nary>
                    <m:r>
                      <a:rPr lang="en-CA" b="0" i="1" dirty="0" smtClean="0">
                        <a:latin typeface="Cambria Math" panose="02040503050406030204" pitchFamily="18" charset="0"/>
                      </a:rPr>
                      <m:t>  </m:t>
                    </m:r>
                  </m:oMath>
                </a14:m>
                <a:endParaRPr lang="en-CA" dirty="0"/>
              </a:p>
            </p:txBody>
          </p:sp>
        </mc:Choice>
        <mc:Fallback xmlns="">
          <p:sp>
            <p:nvSpPr>
              <p:cNvPr id="3" name="Content Placeholder 2">
                <a:extLst>
                  <a:ext uri="{FF2B5EF4-FFF2-40B4-BE49-F238E27FC236}">
                    <a16:creationId xmlns:a16="http://schemas.microsoft.com/office/drawing/2014/main" id="{F76C926B-4C02-8D0E-EA87-B74721988E66}"/>
                  </a:ext>
                </a:extLst>
              </p:cNvPr>
              <p:cNvSpPr>
                <a:spLocks noGrp="1" noRot="1" noChangeAspect="1" noMove="1" noResize="1" noEditPoints="1" noAdjustHandles="1" noChangeArrowheads="1" noChangeShapeType="1" noTextEdit="1"/>
              </p:cNvSpPr>
              <p:nvPr>
                <p:ph idx="1"/>
              </p:nvPr>
            </p:nvSpPr>
            <p:spPr>
              <a:blipFill>
                <a:blip r:embed="rId3"/>
                <a:stretch>
                  <a:fillRect l="-928" t="-3501" b="-7003"/>
                </a:stretch>
              </a:blipFill>
            </p:spPr>
            <p:txBody>
              <a:bodyPr/>
              <a:lstStyle/>
              <a:p>
                <a:r>
                  <a:rPr lang="en-CA">
                    <a:noFill/>
                  </a:rPr>
                  <a:t> </a:t>
                </a:r>
              </a:p>
            </p:txBody>
          </p:sp>
        </mc:Fallback>
      </mc:AlternateContent>
    </p:spTree>
    <p:extLst>
      <p:ext uri="{BB962C8B-B14F-4D97-AF65-F5344CB8AC3E}">
        <p14:creationId xmlns:p14="http://schemas.microsoft.com/office/powerpoint/2010/main" val="1066920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EFC4B6-407F-42EB-365F-6D1DB72490E7}"/>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Global Performance Depends on Switching Rule</a:t>
            </a:r>
          </a:p>
        </p:txBody>
      </p:sp>
      <p:pic>
        <p:nvPicPr>
          <p:cNvPr id="4" name="Picture 3" descr="The diagram illustrates the impact of different switching rules (mean, variance, and hysteresis) on various performance metrics, including Global MSE, context misclassification rate, and mean mismatch duration, across different values.&#10;&#10;AI-generated content may be incorrect.">
            <a:extLst>
              <a:ext uri="{FF2B5EF4-FFF2-40B4-BE49-F238E27FC236}">
                <a16:creationId xmlns:a16="http://schemas.microsoft.com/office/drawing/2014/main" id="{D3E36BC2-6F71-562B-A5CD-0C28F4924E3A}"/>
              </a:ext>
            </a:extLst>
          </p:cNvPr>
          <p:cNvPicPr>
            <a:picLocks noChangeAspect="1"/>
          </p:cNvPicPr>
          <p:nvPr/>
        </p:nvPicPr>
        <p:blipFill>
          <a:blip r:embed="rId3"/>
          <a:stretch>
            <a:fillRect/>
          </a:stretch>
        </p:blipFill>
        <p:spPr>
          <a:xfrm>
            <a:off x="1507671" y="1597211"/>
            <a:ext cx="9176657" cy="5070103"/>
          </a:xfrm>
          <a:prstGeom prst="rect">
            <a:avLst/>
          </a:prstGeom>
        </p:spPr>
      </p:pic>
      <p:sp>
        <p:nvSpPr>
          <p:cNvPr id="6" name="Oval 5">
            <a:extLst>
              <a:ext uri="{FF2B5EF4-FFF2-40B4-BE49-F238E27FC236}">
                <a16:creationId xmlns:a16="http://schemas.microsoft.com/office/drawing/2014/main" id="{D21D3F49-D092-F924-590A-B71EB2118E58}"/>
              </a:ext>
            </a:extLst>
          </p:cNvPr>
          <p:cNvSpPr/>
          <p:nvPr/>
        </p:nvSpPr>
        <p:spPr>
          <a:xfrm>
            <a:off x="1890944" y="2379216"/>
            <a:ext cx="1731146" cy="25745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Oval 6">
            <a:extLst>
              <a:ext uri="{FF2B5EF4-FFF2-40B4-BE49-F238E27FC236}">
                <a16:creationId xmlns:a16="http://schemas.microsoft.com/office/drawing/2014/main" id="{7E0A7CAC-52D6-62E8-0FA3-00673810B362}"/>
              </a:ext>
            </a:extLst>
          </p:cNvPr>
          <p:cNvSpPr/>
          <p:nvPr/>
        </p:nvSpPr>
        <p:spPr>
          <a:xfrm>
            <a:off x="4946393" y="4305761"/>
            <a:ext cx="2672177" cy="25745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Oval 7">
            <a:extLst>
              <a:ext uri="{FF2B5EF4-FFF2-40B4-BE49-F238E27FC236}">
                <a16:creationId xmlns:a16="http://schemas.microsoft.com/office/drawing/2014/main" id="{19177A1D-9557-781A-D020-73E491D4D658}"/>
              </a:ext>
            </a:extLst>
          </p:cNvPr>
          <p:cNvSpPr/>
          <p:nvPr/>
        </p:nvSpPr>
        <p:spPr>
          <a:xfrm>
            <a:off x="1890944" y="4265813"/>
            <a:ext cx="2672178" cy="25745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Rectangle 9">
            <a:extLst>
              <a:ext uri="{FF2B5EF4-FFF2-40B4-BE49-F238E27FC236}">
                <a16:creationId xmlns:a16="http://schemas.microsoft.com/office/drawing/2014/main" id="{5E0E225B-3DB3-0345-7C1E-775DDA822713}"/>
              </a:ext>
            </a:extLst>
          </p:cNvPr>
          <p:cNvSpPr/>
          <p:nvPr/>
        </p:nvSpPr>
        <p:spPr>
          <a:xfrm>
            <a:off x="7794594" y="1979720"/>
            <a:ext cx="2965142" cy="4687594"/>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Oval 11">
            <a:extLst>
              <a:ext uri="{FF2B5EF4-FFF2-40B4-BE49-F238E27FC236}">
                <a16:creationId xmlns:a16="http://schemas.microsoft.com/office/drawing/2014/main" id="{B85815EA-6535-D7C5-997F-CE6A9877AEEF}"/>
              </a:ext>
            </a:extLst>
          </p:cNvPr>
          <p:cNvSpPr/>
          <p:nvPr/>
        </p:nvSpPr>
        <p:spPr>
          <a:xfrm>
            <a:off x="4946393" y="2507942"/>
            <a:ext cx="1731146" cy="19087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5" name="Straight Arrow Connector 4">
            <a:extLst>
              <a:ext uri="{FF2B5EF4-FFF2-40B4-BE49-F238E27FC236}">
                <a16:creationId xmlns:a16="http://schemas.microsoft.com/office/drawing/2014/main" id="{834EFD38-953C-9646-090C-398885A5D538}"/>
              </a:ext>
            </a:extLst>
          </p:cNvPr>
          <p:cNvCxnSpPr/>
          <p:nvPr/>
        </p:nvCxnSpPr>
        <p:spPr>
          <a:xfrm>
            <a:off x="1229763" y="2505766"/>
            <a:ext cx="43927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2E1D5F7A-F0CC-9816-8184-0D5337D839BD}"/>
              </a:ext>
            </a:extLst>
          </p:cNvPr>
          <p:cNvCxnSpPr/>
          <p:nvPr/>
        </p:nvCxnSpPr>
        <p:spPr>
          <a:xfrm>
            <a:off x="1229763" y="4518913"/>
            <a:ext cx="43927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2F404E18-99EF-175C-3517-9E3C610E75DE}"/>
              </a:ext>
            </a:extLst>
          </p:cNvPr>
          <p:cNvCxnSpPr/>
          <p:nvPr/>
        </p:nvCxnSpPr>
        <p:spPr>
          <a:xfrm>
            <a:off x="4197165" y="2451976"/>
            <a:ext cx="43927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1BB77390-D3FC-9DB7-C850-A30935527E6D}"/>
              </a:ext>
            </a:extLst>
          </p:cNvPr>
          <p:cNvCxnSpPr/>
          <p:nvPr/>
        </p:nvCxnSpPr>
        <p:spPr>
          <a:xfrm>
            <a:off x="4170270" y="4438228"/>
            <a:ext cx="43927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84AFB5AE-09F8-2970-EDF3-D51578F6D784}"/>
              </a:ext>
            </a:extLst>
          </p:cNvPr>
          <p:cNvCxnSpPr/>
          <p:nvPr/>
        </p:nvCxnSpPr>
        <p:spPr>
          <a:xfrm>
            <a:off x="7379552" y="2527268"/>
            <a:ext cx="43927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CFF19CE-75BF-BA5A-31CC-90A87C52817D}"/>
              </a:ext>
            </a:extLst>
          </p:cNvPr>
          <p:cNvCxnSpPr/>
          <p:nvPr/>
        </p:nvCxnSpPr>
        <p:spPr>
          <a:xfrm>
            <a:off x="7361622" y="4325265"/>
            <a:ext cx="43927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71180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0-#ppt_w/2"/>
                                          </p:val>
                                        </p:tav>
                                        <p:tav tm="100000">
                                          <p:val>
                                            <p:strVal val="#ppt_x"/>
                                          </p:val>
                                        </p:tav>
                                      </p:tavLst>
                                    </p:anim>
                                    <p:anim calcmode="lin" valueType="num">
                                      <p:cBhvr additive="base">
                                        <p:cTn id="24" dur="500" fill="hold"/>
                                        <p:tgtEl>
                                          <p:spTgt spid="15"/>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0-#ppt_w/2"/>
                                          </p:val>
                                        </p:tav>
                                        <p:tav tm="100000">
                                          <p:val>
                                            <p:strVal val="#ppt_x"/>
                                          </p:val>
                                        </p:tav>
                                      </p:tavLst>
                                    </p:anim>
                                    <p:anim calcmode="lin" valueType="num">
                                      <p:cBhvr additive="base">
                                        <p:cTn id="2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xit" presetSubtype="2" fill="hold" nodeType="clickEffect">
                                  <p:stCondLst>
                                    <p:cond delay="0"/>
                                  </p:stCondLst>
                                  <p:childTnLst>
                                    <p:anim calcmode="lin" valueType="num">
                                      <p:cBhvr additive="base">
                                        <p:cTn id="32" dur="500"/>
                                        <p:tgtEl>
                                          <p:spTgt spid="5"/>
                                        </p:tgtEl>
                                        <p:attrNameLst>
                                          <p:attrName>ppt_x</p:attrName>
                                        </p:attrNameLst>
                                      </p:cBhvr>
                                      <p:tavLst>
                                        <p:tav tm="0">
                                          <p:val>
                                            <p:strVal val="ppt_x"/>
                                          </p:val>
                                        </p:tav>
                                        <p:tav tm="100000">
                                          <p:val>
                                            <p:strVal val="1+ppt_w/2"/>
                                          </p:val>
                                        </p:tav>
                                      </p:tavLst>
                                    </p:anim>
                                    <p:anim calcmode="lin" valueType="num">
                                      <p:cBhvr additive="base">
                                        <p:cTn id="33" dur="500"/>
                                        <p:tgtEl>
                                          <p:spTgt spid="5"/>
                                        </p:tgtEl>
                                        <p:attrNameLst>
                                          <p:attrName>ppt_y</p:attrName>
                                        </p:attrNameLst>
                                      </p:cBhvr>
                                      <p:tavLst>
                                        <p:tav tm="0">
                                          <p:val>
                                            <p:strVal val="ppt_y"/>
                                          </p:val>
                                        </p:tav>
                                        <p:tav tm="100000">
                                          <p:val>
                                            <p:strVal val="ppt_y"/>
                                          </p:val>
                                        </p:tav>
                                      </p:tavLst>
                                    </p:anim>
                                    <p:set>
                                      <p:cBhvr>
                                        <p:cTn id="34" dur="1" fill="hold">
                                          <p:stCondLst>
                                            <p:cond delay="499"/>
                                          </p:stCondLst>
                                        </p:cTn>
                                        <p:tgtEl>
                                          <p:spTgt spid="5"/>
                                        </p:tgtEl>
                                        <p:attrNameLst>
                                          <p:attrName>style.visibility</p:attrName>
                                        </p:attrNameLst>
                                      </p:cBhvr>
                                      <p:to>
                                        <p:strVal val="hidden"/>
                                      </p:to>
                                    </p:set>
                                  </p:childTnLst>
                                </p:cTn>
                              </p:par>
                              <p:par>
                                <p:cTn id="35" presetID="2" presetClass="exit" presetSubtype="2" fill="hold" nodeType="withEffect">
                                  <p:stCondLst>
                                    <p:cond delay="0"/>
                                  </p:stCondLst>
                                  <p:childTnLst>
                                    <p:anim calcmode="lin" valueType="num">
                                      <p:cBhvr additive="base">
                                        <p:cTn id="36" dur="500"/>
                                        <p:tgtEl>
                                          <p:spTgt spid="9"/>
                                        </p:tgtEl>
                                        <p:attrNameLst>
                                          <p:attrName>ppt_x</p:attrName>
                                        </p:attrNameLst>
                                      </p:cBhvr>
                                      <p:tavLst>
                                        <p:tav tm="0">
                                          <p:val>
                                            <p:strVal val="ppt_x"/>
                                          </p:val>
                                        </p:tav>
                                        <p:tav tm="100000">
                                          <p:val>
                                            <p:strVal val="1+ppt_w/2"/>
                                          </p:val>
                                        </p:tav>
                                      </p:tavLst>
                                    </p:anim>
                                    <p:anim calcmode="lin" valueType="num">
                                      <p:cBhvr additive="base">
                                        <p:cTn id="37" dur="500"/>
                                        <p:tgtEl>
                                          <p:spTgt spid="9"/>
                                        </p:tgtEl>
                                        <p:attrNameLst>
                                          <p:attrName>ppt_y</p:attrName>
                                        </p:attrNameLst>
                                      </p:cBhvr>
                                      <p:tavLst>
                                        <p:tav tm="0">
                                          <p:val>
                                            <p:strVal val="ppt_y"/>
                                          </p:val>
                                        </p:tav>
                                        <p:tav tm="100000">
                                          <p:val>
                                            <p:strVal val="ppt_y"/>
                                          </p:val>
                                        </p:tav>
                                      </p:tavLst>
                                    </p:anim>
                                    <p:set>
                                      <p:cBhvr>
                                        <p:cTn id="38" dur="1" fill="hold">
                                          <p:stCondLst>
                                            <p:cond delay="499"/>
                                          </p:stCondLst>
                                        </p:cTn>
                                        <p:tgtEl>
                                          <p:spTgt spid="9"/>
                                        </p:tgtEl>
                                        <p:attrNameLst>
                                          <p:attrName>style.visibility</p:attrName>
                                        </p:attrNameLst>
                                      </p:cBhvr>
                                      <p:to>
                                        <p:strVal val="hidden"/>
                                      </p:to>
                                    </p:set>
                                  </p:childTnLst>
                                </p:cTn>
                              </p:par>
                              <p:par>
                                <p:cTn id="39" presetID="2" presetClass="exit" presetSubtype="2" fill="hold" nodeType="withEffect">
                                  <p:stCondLst>
                                    <p:cond delay="0"/>
                                  </p:stCondLst>
                                  <p:childTnLst>
                                    <p:anim calcmode="lin" valueType="num">
                                      <p:cBhvr additive="base">
                                        <p:cTn id="40" dur="500"/>
                                        <p:tgtEl>
                                          <p:spTgt spid="11"/>
                                        </p:tgtEl>
                                        <p:attrNameLst>
                                          <p:attrName>ppt_x</p:attrName>
                                        </p:attrNameLst>
                                      </p:cBhvr>
                                      <p:tavLst>
                                        <p:tav tm="0">
                                          <p:val>
                                            <p:strVal val="ppt_x"/>
                                          </p:val>
                                        </p:tav>
                                        <p:tav tm="100000">
                                          <p:val>
                                            <p:strVal val="1+ppt_w/2"/>
                                          </p:val>
                                        </p:tav>
                                      </p:tavLst>
                                    </p:anim>
                                    <p:anim calcmode="lin" valueType="num">
                                      <p:cBhvr additive="base">
                                        <p:cTn id="41" dur="500"/>
                                        <p:tgtEl>
                                          <p:spTgt spid="11"/>
                                        </p:tgtEl>
                                        <p:attrNameLst>
                                          <p:attrName>ppt_y</p:attrName>
                                        </p:attrNameLst>
                                      </p:cBhvr>
                                      <p:tavLst>
                                        <p:tav tm="0">
                                          <p:val>
                                            <p:strVal val="ppt_y"/>
                                          </p:val>
                                        </p:tav>
                                        <p:tav tm="100000">
                                          <p:val>
                                            <p:strVal val="ppt_y"/>
                                          </p:val>
                                        </p:tav>
                                      </p:tavLst>
                                    </p:anim>
                                    <p:set>
                                      <p:cBhvr>
                                        <p:cTn id="42" dur="1" fill="hold">
                                          <p:stCondLst>
                                            <p:cond delay="499"/>
                                          </p:stCondLst>
                                        </p:cTn>
                                        <p:tgtEl>
                                          <p:spTgt spid="11"/>
                                        </p:tgtEl>
                                        <p:attrNameLst>
                                          <p:attrName>style.visibility</p:attrName>
                                        </p:attrNameLst>
                                      </p:cBhvr>
                                      <p:to>
                                        <p:strVal val="hidden"/>
                                      </p:to>
                                    </p:set>
                                  </p:childTnLst>
                                </p:cTn>
                              </p:par>
                              <p:par>
                                <p:cTn id="43" presetID="2" presetClass="exit" presetSubtype="2" fill="hold" nodeType="withEffect">
                                  <p:stCondLst>
                                    <p:cond delay="0"/>
                                  </p:stCondLst>
                                  <p:childTnLst>
                                    <p:anim calcmode="lin" valueType="num">
                                      <p:cBhvr additive="base">
                                        <p:cTn id="44" dur="500"/>
                                        <p:tgtEl>
                                          <p:spTgt spid="14"/>
                                        </p:tgtEl>
                                        <p:attrNameLst>
                                          <p:attrName>ppt_x</p:attrName>
                                        </p:attrNameLst>
                                      </p:cBhvr>
                                      <p:tavLst>
                                        <p:tav tm="0">
                                          <p:val>
                                            <p:strVal val="ppt_x"/>
                                          </p:val>
                                        </p:tav>
                                        <p:tav tm="100000">
                                          <p:val>
                                            <p:strVal val="1+ppt_w/2"/>
                                          </p:val>
                                        </p:tav>
                                      </p:tavLst>
                                    </p:anim>
                                    <p:anim calcmode="lin" valueType="num">
                                      <p:cBhvr additive="base">
                                        <p:cTn id="45" dur="500"/>
                                        <p:tgtEl>
                                          <p:spTgt spid="14"/>
                                        </p:tgtEl>
                                        <p:attrNameLst>
                                          <p:attrName>ppt_y</p:attrName>
                                        </p:attrNameLst>
                                      </p:cBhvr>
                                      <p:tavLst>
                                        <p:tav tm="0">
                                          <p:val>
                                            <p:strVal val="ppt_y"/>
                                          </p:val>
                                        </p:tav>
                                        <p:tav tm="100000">
                                          <p:val>
                                            <p:strVal val="ppt_y"/>
                                          </p:val>
                                        </p:tav>
                                      </p:tavLst>
                                    </p:anim>
                                    <p:set>
                                      <p:cBhvr>
                                        <p:cTn id="46" dur="1" fill="hold">
                                          <p:stCondLst>
                                            <p:cond delay="499"/>
                                          </p:stCondLst>
                                        </p:cTn>
                                        <p:tgtEl>
                                          <p:spTgt spid="14"/>
                                        </p:tgtEl>
                                        <p:attrNameLst>
                                          <p:attrName>style.visibility</p:attrName>
                                        </p:attrNameLst>
                                      </p:cBhvr>
                                      <p:to>
                                        <p:strVal val="hidden"/>
                                      </p:to>
                                    </p:set>
                                  </p:childTnLst>
                                </p:cTn>
                              </p:par>
                              <p:par>
                                <p:cTn id="47" presetID="2" presetClass="exit" presetSubtype="2" fill="hold" nodeType="withEffect">
                                  <p:stCondLst>
                                    <p:cond delay="0"/>
                                  </p:stCondLst>
                                  <p:childTnLst>
                                    <p:anim calcmode="lin" valueType="num">
                                      <p:cBhvr additive="base">
                                        <p:cTn id="48" dur="500"/>
                                        <p:tgtEl>
                                          <p:spTgt spid="15"/>
                                        </p:tgtEl>
                                        <p:attrNameLst>
                                          <p:attrName>ppt_x</p:attrName>
                                        </p:attrNameLst>
                                      </p:cBhvr>
                                      <p:tavLst>
                                        <p:tav tm="0">
                                          <p:val>
                                            <p:strVal val="ppt_x"/>
                                          </p:val>
                                        </p:tav>
                                        <p:tav tm="100000">
                                          <p:val>
                                            <p:strVal val="1+ppt_w/2"/>
                                          </p:val>
                                        </p:tav>
                                      </p:tavLst>
                                    </p:anim>
                                    <p:anim calcmode="lin" valueType="num">
                                      <p:cBhvr additive="base">
                                        <p:cTn id="49" dur="500"/>
                                        <p:tgtEl>
                                          <p:spTgt spid="15"/>
                                        </p:tgtEl>
                                        <p:attrNameLst>
                                          <p:attrName>ppt_y</p:attrName>
                                        </p:attrNameLst>
                                      </p:cBhvr>
                                      <p:tavLst>
                                        <p:tav tm="0">
                                          <p:val>
                                            <p:strVal val="ppt_y"/>
                                          </p:val>
                                        </p:tav>
                                        <p:tav tm="100000">
                                          <p:val>
                                            <p:strVal val="ppt_y"/>
                                          </p:val>
                                        </p:tav>
                                      </p:tavLst>
                                    </p:anim>
                                    <p:set>
                                      <p:cBhvr>
                                        <p:cTn id="50" dur="1" fill="hold">
                                          <p:stCondLst>
                                            <p:cond delay="499"/>
                                          </p:stCondLst>
                                        </p:cTn>
                                        <p:tgtEl>
                                          <p:spTgt spid="15"/>
                                        </p:tgtEl>
                                        <p:attrNameLst>
                                          <p:attrName>style.visibility</p:attrName>
                                        </p:attrNameLst>
                                      </p:cBhvr>
                                      <p:to>
                                        <p:strVal val="hidden"/>
                                      </p:to>
                                    </p:set>
                                  </p:childTnLst>
                                </p:cTn>
                              </p:par>
                              <p:par>
                                <p:cTn id="51" presetID="2" presetClass="exit" presetSubtype="2" fill="hold" nodeType="withEffect">
                                  <p:stCondLst>
                                    <p:cond delay="0"/>
                                  </p:stCondLst>
                                  <p:childTnLst>
                                    <p:anim calcmode="lin" valueType="num">
                                      <p:cBhvr additive="base">
                                        <p:cTn id="52" dur="500"/>
                                        <p:tgtEl>
                                          <p:spTgt spid="16"/>
                                        </p:tgtEl>
                                        <p:attrNameLst>
                                          <p:attrName>ppt_x</p:attrName>
                                        </p:attrNameLst>
                                      </p:cBhvr>
                                      <p:tavLst>
                                        <p:tav tm="0">
                                          <p:val>
                                            <p:strVal val="ppt_x"/>
                                          </p:val>
                                        </p:tav>
                                        <p:tav tm="100000">
                                          <p:val>
                                            <p:strVal val="1+ppt_w/2"/>
                                          </p:val>
                                        </p:tav>
                                      </p:tavLst>
                                    </p:anim>
                                    <p:anim calcmode="lin" valueType="num">
                                      <p:cBhvr additive="base">
                                        <p:cTn id="53" dur="500"/>
                                        <p:tgtEl>
                                          <p:spTgt spid="16"/>
                                        </p:tgtEl>
                                        <p:attrNameLst>
                                          <p:attrName>ppt_y</p:attrName>
                                        </p:attrNameLst>
                                      </p:cBhvr>
                                      <p:tavLst>
                                        <p:tav tm="0">
                                          <p:val>
                                            <p:strVal val="ppt_y"/>
                                          </p:val>
                                        </p:tav>
                                        <p:tav tm="100000">
                                          <p:val>
                                            <p:strVal val="ppt_y"/>
                                          </p:val>
                                        </p:tav>
                                      </p:tavLst>
                                    </p:anim>
                                    <p:set>
                                      <p:cBhvr>
                                        <p:cTn id="54" dur="1" fill="hold">
                                          <p:stCondLst>
                                            <p:cond delay="499"/>
                                          </p:stCondLst>
                                        </p:cTn>
                                        <p:tgtEl>
                                          <p:spTgt spid="16"/>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6"/>
                                        </p:tgtEl>
                                        <p:attrNameLst>
                                          <p:attrName>style.visibility</p:attrName>
                                        </p:attrNameLst>
                                      </p:cBhvr>
                                      <p:to>
                                        <p:strVal val="hidden"/>
                                      </p:to>
                                    </p:set>
                                  </p:childTnLst>
                                </p:cTn>
                              </p:par>
                              <p:par>
                                <p:cTn id="65" presetID="1" presetClass="exit" presetSubtype="0" fill="hold" grpId="1" nodeType="withEffect">
                                  <p:stCondLst>
                                    <p:cond delay="0"/>
                                  </p:stCondLst>
                                  <p:childTnLst>
                                    <p:set>
                                      <p:cBhvr>
                                        <p:cTn id="66" dur="1" fill="hold">
                                          <p:stCondLst>
                                            <p:cond delay="0"/>
                                          </p:stCondLst>
                                        </p:cTn>
                                        <p:tgtEl>
                                          <p:spTgt spid="12"/>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grpId="1" nodeType="clickEffect">
                                  <p:stCondLst>
                                    <p:cond delay="0"/>
                                  </p:stCondLst>
                                  <p:childTnLst>
                                    <p:set>
                                      <p:cBhvr>
                                        <p:cTn id="76" dur="1" fill="hold">
                                          <p:stCondLst>
                                            <p:cond delay="0"/>
                                          </p:stCondLst>
                                        </p:cTn>
                                        <p:tgtEl>
                                          <p:spTgt spid="8"/>
                                        </p:tgtEl>
                                        <p:attrNameLst>
                                          <p:attrName>style.visibility</p:attrName>
                                        </p:attrNameLst>
                                      </p:cBhvr>
                                      <p:to>
                                        <p:strVal val="hidden"/>
                                      </p:to>
                                    </p:set>
                                  </p:childTnLst>
                                </p:cTn>
                              </p:par>
                              <p:par>
                                <p:cTn id="77" presetID="1" presetClass="exit" presetSubtype="0" fill="hold" grpId="1" nodeType="withEffect">
                                  <p:stCondLst>
                                    <p:cond delay="0"/>
                                  </p:stCondLst>
                                  <p:childTnLst>
                                    <p:set>
                                      <p:cBhvr>
                                        <p:cTn id="78" dur="1" fill="hold">
                                          <p:stCondLst>
                                            <p:cond delay="0"/>
                                          </p:stCondLst>
                                        </p:cTn>
                                        <p:tgtEl>
                                          <p:spTgt spid="7"/>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10" grpId="0" animBg="1"/>
      <p:bldP spid="12" grpId="0" animBg="1"/>
      <p:bldP spid="12"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C75DE1-8C3A-0D88-C6BA-5F16799B7E2F}"/>
              </a:ext>
            </a:extLst>
          </p:cNvPr>
          <p:cNvSpPr>
            <a:spLocks noGrp="1"/>
          </p:cNvSpPr>
          <p:nvPr>
            <p:ph type="title"/>
          </p:nvPr>
        </p:nvSpPr>
        <p:spPr>
          <a:xfrm>
            <a:off x="630936" y="639520"/>
            <a:ext cx="3429000" cy="1719072"/>
          </a:xfrm>
        </p:spPr>
        <p:txBody>
          <a:bodyPr anchor="b">
            <a:normAutofit/>
          </a:bodyPr>
          <a:lstStyle/>
          <a:p>
            <a:r>
              <a:rPr lang="en-US" sz="2600" dirty="0"/>
              <a:t>Mismatch Has Different Consequences Across Environments</a:t>
            </a:r>
            <a:endParaRPr lang="en-CA" sz="2600" dirty="0"/>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7BFCB8A-39F6-FB09-C56F-039D742AF9B0}"/>
              </a:ext>
            </a:extLst>
          </p:cNvPr>
          <p:cNvSpPr>
            <a:spLocks noGrp="1"/>
          </p:cNvSpPr>
          <p:nvPr>
            <p:ph idx="1"/>
          </p:nvPr>
        </p:nvSpPr>
        <p:spPr>
          <a:xfrm>
            <a:off x="630936" y="2807208"/>
            <a:ext cx="3429000" cy="3410712"/>
          </a:xfrm>
        </p:spPr>
        <p:txBody>
          <a:bodyPr anchor="t">
            <a:normAutofit lnSpcReduction="10000"/>
          </a:bodyPr>
          <a:lstStyle/>
          <a:p>
            <a:r>
              <a:rPr lang="en-CA" sz="2200" dirty="0"/>
              <a:t>Strong separation:                 </a:t>
            </a:r>
            <a:r>
              <a:rPr lang="en-CA" sz="2400" dirty="0"/>
              <a:t>↓ mismatch </a:t>
            </a:r>
            <a:r>
              <a:rPr lang="en-CA" sz="2400" b="1" dirty="0"/>
              <a:t>rate</a:t>
            </a:r>
            <a:r>
              <a:rPr lang="en-CA" sz="2400" dirty="0"/>
              <a:t> and </a:t>
            </a:r>
            <a:r>
              <a:rPr lang="en-CA" sz="2400" b="1" dirty="0"/>
              <a:t>duration</a:t>
            </a:r>
            <a:r>
              <a:rPr lang="en-CA" sz="2400" dirty="0"/>
              <a:t>.</a:t>
            </a:r>
            <a:endParaRPr lang="en-CA" sz="2200" dirty="0"/>
          </a:p>
          <a:p>
            <a:r>
              <a:rPr lang="en-CA" sz="2200" dirty="0"/>
              <a:t>Strong separation: </a:t>
            </a:r>
            <a:r>
              <a:rPr lang="en-CA" sz="2400" dirty="0"/>
              <a:t>↑ error </a:t>
            </a:r>
            <a:r>
              <a:rPr lang="en-CA" sz="2400" b="1" dirty="0"/>
              <a:t>when mismatch occur</a:t>
            </a:r>
            <a:r>
              <a:rPr lang="en-CA" sz="2400" dirty="0"/>
              <a:t>.</a:t>
            </a:r>
            <a:endParaRPr lang="en-CA" sz="2200" dirty="0"/>
          </a:p>
          <a:p>
            <a:r>
              <a:rPr lang="en-CA" sz="2200" dirty="0"/>
              <a:t>Global performance: </a:t>
            </a:r>
            <a:r>
              <a:rPr lang="en-US" sz="2400" b="1" dirty="0"/>
              <a:t>(how often mismatch happens)</a:t>
            </a:r>
            <a:r>
              <a:rPr lang="en-US" sz="2400" dirty="0"/>
              <a:t> × </a:t>
            </a:r>
            <a:r>
              <a:rPr lang="en-US" sz="2400" b="1" dirty="0"/>
              <a:t>(how costly it is</a:t>
            </a:r>
            <a:r>
              <a:rPr lang="en-US" sz="2400" dirty="0"/>
              <a:t>.</a:t>
            </a:r>
            <a:endParaRPr lang="en-CA" sz="2200" dirty="0"/>
          </a:p>
          <a:p>
            <a:pPr marL="0" indent="0">
              <a:buNone/>
            </a:pPr>
            <a:endParaRPr lang="en-CA" sz="2200" dirty="0"/>
          </a:p>
          <a:p>
            <a:endParaRPr lang="en-CA" sz="2200" dirty="0"/>
          </a:p>
        </p:txBody>
      </p:sp>
      <p:pic>
        <p:nvPicPr>
          <p:cNvPr id="5" name="Picture 4" descr="The diagram is a series of bar graphs or charts that display different metrics related to mean-switching and separation in a context, with values ranging from 0.02 to 3.00, and includes categories such as weak, strong, and mode.&#10;&#10;AI-generated content may be incorrect.">
            <a:extLst>
              <a:ext uri="{FF2B5EF4-FFF2-40B4-BE49-F238E27FC236}">
                <a16:creationId xmlns:a16="http://schemas.microsoft.com/office/drawing/2014/main" id="{49EC1E1D-A041-094B-1AE4-48CD72EF97C9}"/>
              </a:ext>
            </a:extLst>
          </p:cNvPr>
          <p:cNvPicPr>
            <a:picLocks noChangeAspect="1"/>
          </p:cNvPicPr>
          <p:nvPr/>
        </p:nvPicPr>
        <p:blipFill>
          <a:blip r:embed="rId3"/>
          <a:stretch>
            <a:fillRect/>
          </a:stretch>
        </p:blipFill>
        <p:spPr>
          <a:xfrm>
            <a:off x="4663261" y="960920"/>
            <a:ext cx="6903720" cy="4936159"/>
          </a:xfrm>
          <a:prstGeom prst="rect">
            <a:avLst/>
          </a:prstGeom>
        </p:spPr>
      </p:pic>
      <p:sp>
        <p:nvSpPr>
          <p:cNvPr id="4" name="Rectangle 3">
            <a:extLst>
              <a:ext uri="{FF2B5EF4-FFF2-40B4-BE49-F238E27FC236}">
                <a16:creationId xmlns:a16="http://schemas.microsoft.com/office/drawing/2014/main" id="{1ED4A5B7-D46B-BBD2-5DE7-848B877BB530}"/>
              </a:ext>
            </a:extLst>
          </p:cNvPr>
          <p:cNvSpPr/>
          <p:nvPr/>
        </p:nvSpPr>
        <p:spPr>
          <a:xfrm>
            <a:off x="8122024" y="960920"/>
            <a:ext cx="3435992" cy="239188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Rectangle 5">
            <a:extLst>
              <a:ext uri="{FF2B5EF4-FFF2-40B4-BE49-F238E27FC236}">
                <a16:creationId xmlns:a16="http://schemas.microsoft.com/office/drawing/2014/main" id="{F5C7BE75-1FF8-9DE8-8564-8BBB537CEF31}"/>
              </a:ext>
            </a:extLst>
          </p:cNvPr>
          <p:cNvSpPr/>
          <p:nvPr/>
        </p:nvSpPr>
        <p:spPr>
          <a:xfrm>
            <a:off x="4686032" y="3361765"/>
            <a:ext cx="3435992" cy="25353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Rectangle 7">
            <a:extLst>
              <a:ext uri="{FF2B5EF4-FFF2-40B4-BE49-F238E27FC236}">
                <a16:creationId xmlns:a16="http://schemas.microsoft.com/office/drawing/2014/main" id="{9CA20FB0-71D5-2731-D500-B98D99190543}"/>
              </a:ext>
            </a:extLst>
          </p:cNvPr>
          <p:cNvSpPr/>
          <p:nvPr/>
        </p:nvSpPr>
        <p:spPr>
          <a:xfrm>
            <a:off x="8130989" y="3352800"/>
            <a:ext cx="3435992" cy="25353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50929F8C-6026-1E46-935D-5A8AFBAE96DA}"/>
              </a:ext>
            </a:extLst>
          </p:cNvPr>
          <p:cNvSpPr/>
          <p:nvPr/>
        </p:nvSpPr>
        <p:spPr>
          <a:xfrm>
            <a:off x="4663261" y="960920"/>
            <a:ext cx="3435992" cy="240084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322354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8" grpId="1"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A409D56-71C6-9209-E90E-EC4A34B783B7}"/>
              </a:ext>
            </a:extLst>
          </p:cNvPr>
          <p:cNvSpPr>
            <a:spLocks noGrp="1"/>
          </p:cNvSpPr>
          <p:nvPr>
            <p:ph idx="1"/>
          </p:nvPr>
        </p:nvSpPr>
        <p:spPr>
          <a:xfrm>
            <a:off x="630936" y="2807208"/>
            <a:ext cx="3429000" cy="3410712"/>
          </a:xfrm>
        </p:spPr>
        <p:txBody>
          <a:bodyPr anchor="t">
            <a:normAutofit/>
          </a:bodyPr>
          <a:lstStyle/>
          <a:p>
            <a:r>
              <a:rPr lang="en-CA" sz="2000" dirty="0"/>
              <a:t>Strong separation:                 ↓ mismatch </a:t>
            </a:r>
            <a:r>
              <a:rPr lang="en-CA" sz="2000" b="1" dirty="0"/>
              <a:t>rate</a:t>
            </a:r>
            <a:r>
              <a:rPr lang="en-CA" sz="2000" dirty="0"/>
              <a:t> and </a:t>
            </a:r>
            <a:r>
              <a:rPr lang="en-CA" sz="2000" b="1" dirty="0"/>
              <a:t>duration</a:t>
            </a:r>
            <a:endParaRPr lang="en-CA" sz="2000" dirty="0"/>
          </a:p>
          <a:p>
            <a:r>
              <a:rPr lang="en-CA" sz="2000" dirty="0"/>
              <a:t>Strong separation: ↑ error </a:t>
            </a:r>
            <a:r>
              <a:rPr lang="en-CA" sz="2000" b="1" dirty="0"/>
              <a:t>when mismatch occur</a:t>
            </a:r>
            <a:endParaRPr lang="en-CA" sz="2000" dirty="0"/>
          </a:p>
          <a:p>
            <a:r>
              <a:rPr lang="en-CA" sz="2000" dirty="0"/>
              <a:t>Global performance: </a:t>
            </a:r>
            <a:r>
              <a:rPr lang="en-US" sz="2000" b="1" dirty="0"/>
              <a:t>(how often mismatch happens)</a:t>
            </a:r>
            <a:r>
              <a:rPr lang="en-US" sz="2000" dirty="0"/>
              <a:t> × </a:t>
            </a:r>
            <a:r>
              <a:rPr lang="en-US" sz="2000" b="1" dirty="0"/>
              <a:t>(how costly it is)</a:t>
            </a:r>
            <a:endParaRPr lang="en-CA" sz="2000" dirty="0"/>
          </a:p>
        </p:txBody>
      </p:sp>
      <p:pic>
        <p:nvPicPr>
          <p:cNvPr id="4" name="Picture 3" descr="The image displays a scatter plot comparing various metrics, including variance-switching global MSE, context misclassification rate, separation, and mismatch duration, with different categories such as weak, strong, and mode.&#10;&#10;AI-generated content may be incorrect.">
            <a:extLst>
              <a:ext uri="{FF2B5EF4-FFF2-40B4-BE49-F238E27FC236}">
                <a16:creationId xmlns:a16="http://schemas.microsoft.com/office/drawing/2014/main" id="{2F4C218C-53DD-42C6-1B86-5D3B667CEE79}"/>
              </a:ext>
            </a:extLst>
          </p:cNvPr>
          <p:cNvPicPr>
            <a:picLocks noChangeAspect="1"/>
          </p:cNvPicPr>
          <p:nvPr/>
        </p:nvPicPr>
        <p:blipFill>
          <a:blip r:embed="rId3"/>
          <a:stretch>
            <a:fillRect/>
          </a:stretch>
        </p:blipFill>
        <p:spPr>
          <a:xfrm>
            <a:off x="4654296" y="960920"/>
            <a:ext cx="6903720" cy="4936159"/>
          </a:xfrm>
          <a:prstGeom prst="rect">
            <a:avLst/>
          </a:prstGeom>
        </p:spPr>
      </p:pic>
      <p:sp>
        <p:nvSpPr>
          <p:cNvPr id="5" name="Title 1">
            <a:extLst>
              <a:ext uri="{FF2B5EF4-FFF2-40B4-BE49-F238E27FC236}">
                <a16:creationId xmlns:a16="http://schemas.microsoft.com/office/drawing/2014/main" id="{0BB17780-DD52-20A3-DBD2-BE91181916F7}"/>
              </a:ext>
            </a:extLst>
          </p:cNvPr>
          <p:cNvSpPr>
            <a:spLocks noGrp="1"/>
          </p:cNvSpPr>
          <p:nvPr>
            <p:ph type="title"/>
          </p:nvPr>
        </p:nvSpPr>
        <p:spPr>
          <a:xfrm>
            <a:off x="630936" y="639520"/>
            <a:ext cx="3429000" cy="1719072"/>
          </a:xfrm>
        </p:spPr>
        <p:txBody>
          <a:bodyPr anchor="b">
            <a:normAutofit/>
          </a:bodyPr>
          <a:lstStyle/>
          <a:p>
            <a:r>
              <a:rPr lang="en-US" sz="2600" dirty="0"/>
              <a:t>Mismatch Has Different Consequences Across Environments</a:t>
            </a:r>
            <a:endParaRPr lang="en-CA" sz="2600" dirty="0"/>
          </a:p>
        </p:txBody>
      </p:sp>
      <p:sp>
        <p:nvSpPr>
          <p:cNvPr id="10" name="Rectangle 9">
            <a:extLst>
              <a:ext uri="{FF2B5EF4-FFF2-40B4-BE49-F238E27FC236}">
                <a16:creationId xmlns:a16="http://schemas.microsoft.com/office/drawing/2014/main" id="{6DE85AEF-4D11-9A41-C1E2-C29CD66BF243}"/>
              </a:ext>
            </a:extLst>
          </p:cNvPr>
          <p:cNvSpPr/>
          <p:nvPr/>
        </p:nvSpPr>
        <p:spPr>
          <a:xfrm>
            <a:off x="8130989" y="3352800"/>
            <a:ext cx="3435992" cy="25353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id="{13D299D9-A0D5-48E1-08BD-2B2DC087FA0E}"/>
              </a:ext>
            </a:extLst>
          </p:cNvPr>
          <p:cNvSpPr/>
          <p:nvPr/>
        </p:nvSpPr>
        <p:spPr>
          <a:xfrm>
            <a:off x="4663261" y="960920"/>
            <a:ext cx="3435992" cy="240084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3" name="Rectangle 12">
            <a:extLst>
              <a:ext uri="{FF2B5EF4-FFF2-40B4-BE49-F238E27FC236}">
                <a16:creationId xmlns:a16="http://schemas.microsoft.com/office/drawing/2014/main" id="{2C62B312-810F-8239-C829-C879A8C1E822}"/>
              </a:ext>
            </a:extLst>
          </p:cNvPr>
          <p:cNvSpPr/>
          <p:nvPr/>
        </p:nvSpPr>
        <p:spPr>
          <a:xfrm>
            <a:off x="8112499" y="979970"/>
            <a:ext cx="3435992" cy="239188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ectangle 13">
            <a:extLst>
              <a:ext uri="{FF2B5EF4-FFF2-40B4-BE49-F238E27FC236}">
                <a16:creationId xmlns:a16="http://schemas.microsoft.com/office/drawing/2014/main" id="{29F70221-F09E-9AE0-F553-14891707E94F}"/>
              </a:ext>
            </a:extLst>
          </p:cNvPr>
          <p:cNvSpPr/>
          <p:nvPr/>
        </p:nvSpPr>
        <p:spPr>
          <a:xfrm>
            <a:off x="4676507" y="3380815"/>
            <a:ext cx="3435992" cy="25353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38558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2" grpId="0" animBg="1"/>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8BCB6-27FC-01FB-16B9-CC7095652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7BEAC-6D7E-2F8E-C9A9-7B5565CB120E}"/>
              </a:ext>
            </a:extLst>
          </p:cNvPr>
          <p:cNvSpPr>
            <a:spLocks noGrp="1"/>
          </p:cNvSpPr>
          <p:nvPr>
            <p:ph type="title"/>
          </p:nvPr>
        </p:nvSpPr>
        <p:spPr/>
        <p:txBody>
          <a:bodyPr/>
          <a:lstStyle/>
          <a:p>
            <a:r>
              <a:rPr lang="en-US" dirty="0"/>
              <a:t>Switching Rules Affect Performance Through Mismatch Dynamics</a:t>
            </a:r>
            <a:endParaRPr lang="en-CA" dirty="0"/>
          </a:p>
        </p:txBody>
      </p:sp>
      <p:sp>
        <p:nvSpPr>
          <p:cNvPr id="3" name="Content Placeholder 2">
            <a:extLst>
              <a:ext uri="{FF2B5EF4-FFF2-40B4-BE49-F238E27FC236}">
                <a16:creationId xmlns:a16="http://schemas.microsoft.com/office/drawing/2014/main" id="{CE3822D6-6AE9-E0C4-1745-6DFFA824604B}"/>
              </a:ext>
            </a:extLst>
          </p:cNvPr>
          <p:cNvSpPr>
            <a:spLocks noGrp="1"/>
          </p:cNvSpPr>
          <p:nvPr>
            <p:ph idx="1"/>
          </p:nvPr>
        </p:nvSpPr>
        <p:spPr/>
        <p:txBody>
          <a:bodyPr>
            <a:normAutofit/>
          </a:bodyPr>
          <a:lstStyle/>
          <a:p>
            <a:r>
              <a:rPr lang="en-US" dirty="0"/>
              <a:t>Switching rules shape </a:t>
            </a:r>
            <a:r>
              <a:rPr lang="en-US" b="1" dirty="0"/>
              <a:t>mismatch dynamics</a:t>
            </a:r>
            <a:r>
              <a:rPr lang="en-US" dirty="0"/>
              <a:t> (rate &amp; duration).</a:t>
            </a:r>
          </a:p>
          <a:p>
            <a:r>
              <a:rPr lang="en-US" dirty="0"/>
              <a:t>Differences in </a:t>
            </a:r>
            <a:r>
              <a:rPr lang="en-US" b="1" dirty="0"/>
              <a:t>global MSE</a:t>
            </a:r>
            <a:r>
              <a:rPr lang="en-US" dirty="0"/>
              <a:t> arise from these changes, not from </a:t>
            </a:r>
            <a:r>
              <a:rPr lang="en-US" b="1" dirty="0"/>
              <a:t>mismatched MSE</a:t>
            </a:r>
            <a:r>
              <a:rPr lang="en-US" dirty="0"/>
              <a:t>.</a:t>
            </a:r>
          </a:p>
          <a:p>
            <a:r>
              <a:rPr lang="en-US" dirty="0"/>
              <a:t>Mismatch cost depends on how context shapes the </a:t>
            </a:r>
            <a:r>
              <a:rPr lang="en-US" b="1" dirty="0"/>
              <a:t>stimulus distribution</a:t>
            </a:r>
            <a:r>
              <a:rPr lang="en-US" dirty="0"/>
              <a:t>.</a:t>
            </a:r>
          </a:p>
          <a:p>
            <a:r>
              <a:rPr lang="en-US" dirty="0"/>
              <a:t>Switching redistributes error </a:t>
            </a:r>
            <a:r>
              <a:rPr lang="en-US" b="1" dirty="0"/>
              <a:t>over time</a:t>
            </a:r>
            <a:r>
              <a:rPr lang="en-US" dirty="0"/>
              <a:t>, rather than changing its magnitude.</a:t>
            </a:r>
          </a:p>
          <a:p>
            <a:r>
              <a:rPr lang="en-US" dirty="0"/>
              <a:t>Switching affects performance by shaping mismatch over time, and the cost of that mismatch depends on the environment.</a:t>
            </a:r>
          </a:p>
        </p:txBody>
      </p:sp>
    </p:spTree>
    <p:extLst>
      <p:ext uri="{BB962C8B-B14F-4D97-AF65-F5344CB8AC3E}">
        <p14:creationId xmlns:p14="http://schemas.microsoft.com/office/powerpoint/2010/main" val="4045871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34708-4AC7-6266-DC85-0D76E7E18C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FA79F-B6EE-8B01-3663-4F007E95FCC5}"/>
              </a:ext>
            </a:extLst>
          </p:cNvPr>
          <p:cNvSpPr>
            <a:spLocks noGrp="1"/>
          </p:cNvSpPr>
          <p:nvPr>
            <p:ph type="title"/>
          </p:nvPr>
        </p:nvSpPr>
        <p:spPr/>
        <p:txBody>
          <a:bodyPr/>
          <a:lstStyle/>
          <a:p>
            <a:r>
              <a:rPr lang="en-US" dirty="0"/>
              <a:t>Toward Adaptive Coding in More Realistic Environments</a:t>
            </a:r>
            <a:endParaRPr lang="en-CA" dirty="0"/>
          </a:p>
        </p:txBody>
      </p:sp>
      <p:sp>
        <p:nvSpPr>
          <p:cNvPr id="3" name="Content Placeholder 2">
            <a:extLst>
              <a:ext uri="{FF2B5EF4-FFF2-40B4-BE49-F238E27FC236}">
                <a16:creationId xmlns:a16="http://schemas.microsoft.com/office/drawing/2014/main" id="{91475C58-9070-AAC3-AB37-D3072ABA32C5}"/>
              </a:ext>
            </a:extLst>
          </p:cNvPr>
          <p:cNvSpPr>
            <a:spLocks noGrp="1"/>
          </p:cNvSpPr>
          <p:nvPr>
            <p:ph idx="1"/>
          </p:nvPr>
        </p:nvSpPr>
        <p:spPr/>
        <p:txBody>
          <a:bodyPr>
            <a:normAutofit/>
          </a:bodyPr>
          <a:lstStyle/>
          <a:p>
            <a:r>
              <a:rPr lang="en-CA" dirty="0"/>
              <a:t>The current model is simplified (single neuron, binary contexts, fixed switching rules).</a:t>
            </a:r>
          </a:p>
          <a:p>
            <a:r>
              <a:rPr lang="en-CA" dirty="0"/>
              <a:t>Important extensions: population codes, richer contexts, context-dependent switching.</a:t>
            </a:r>
          </a:p>
          <a:p>
            <a:r>
              <a:rPr lang="en-CA" dirty="0"/>
              <a:t>Switching </a:t>
            </a:r>
            <a:r>
              <a:rPr lang="en-CA"/>
              <a:t>constraints should have </a:t>
            </a:r>
            <a:r>
              <a:rPr lang="en-CA" dirty="0"/>
              <a:t>plausible biological analogs.</a:t>
            </a:r>
          </a:p>
          <a:p>
            <a:r>
              <a:rPr lang="en-US" dirty="0"/>
              <a:t>In general, these extensions would bring the model closer to the forms of adaptation expected in natural environments.</a:t>
            </a:r>
            <a:endParaRPr lang="en-CA" dirty="0"/>
          </a:p>
        </p:txBody>
      </p:sp>
    </p:spTree>
    <p:extLst>
      <p:ext uri="{BB962C8B-B14F-4D97-AF65-F5344CB8AC3E}">
        <p14:creationId xmlns:p14="http://schemas.microsoft.com/office/powerpoint/2010/main" val="275235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8aac226-2f03-4b4d-9037-b46d56c55210}" enabled="0" method="" siteId="{78aac226-2f03-4b4d-9037-b46d56c55210}" removed="1"/>
</clbl:labelList>
</file>

<file path=docProps/app.xml><?xml version="1.0" encoding="utf-8"?>
<Properties xmlns="http://schemas.openxmlformats.org/officeDocument/2006/extended-properties" xmlns:vt="http://schemas.openxmlformats.org/officeDocument/2006/docPropsVTypes">
  <TotalTime>4575</TotalTime>
  <Words>1900</Words>
  <Application>Microsoft Office PowerPoint</Application>
  <PresentationFormat>Widescreen</PresentationFormat>
  <Paragraphs>132</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Cambria Math</vt:lpstr>
      <vt:lpstr>Office Theme</vt:lpstr>
      <vt:lpstr>Switching Rules and Mismatch Dynamics in Context-Dependent Encoding</vt:lpstr>
      <vt:lpstr>Efficient Coding in Changing Environments</vt:lpstr>
      <vt:lpstr>How Do Switching Rules Affect Performance When Context Is Inferred?</vt:lpstr>
      <vt:lpstr>Sequential Model of Context Inference and Encoding</vt:lpstr>
      <vt:lpstr>Switching Constraints and Mismatch-Based Metrics</vt:lpstr>
      <vt:lpstr>Global Performance Depends on Switching Rule</vt:lpstr>
      <vt:lpstr>Mismatch Has Different Consequences Across Environments</vt:lpstr>
      <vt:lpstr>Mismatch Has Different Consequences Across Environments</vt:lpstr>
      <vt:lpstr>Switching Rules Affect Performance Through Mismatch Dynamics</vt:lpstr>
      <vt:lpstr>Toward Adaptive Coding in More Realistic Environments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Sallam Saka</dc:creator>
  <cp:lastModifiedBy>Sallam Saka</cp:lastModifiedBy>
  <cp:revision>1</cp:revision>
  <dcterms:created xsi:type="dcterms:W3CDTF">2026-03-28T05:51:45Z</dcterms:created>
  <dcterms:modified xsi:type="dcterms:W3CDTF">2026-03-31T13:38:23Z</dcterms:modified>
</cp:coreProperties>
</file>